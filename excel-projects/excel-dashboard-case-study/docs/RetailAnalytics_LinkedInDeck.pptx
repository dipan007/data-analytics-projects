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6858000" cy="8572500"/>
  <p:notesSz cx="85725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700"/>
    <a:srgbClr val="E4E5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0" d="100"/>
          <a:sy n="60" d="100"/>
        </p:scale>
        <p:origin x="245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9975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" cy="128016"/>
          </a:xfrm>
          <a:prstGeom prst="ellipse">
            <a:avLst/>
          </a:prstGeom>
          <a:solidFill>
            <a:srgbClr val="A3E2C9">
              <a:alpha val="50000"/>
            </a:srgbClr>
          </a:solidFill>
          <a:ln w="12700">
            <a:solidFill>
              <a:srgbClr val="A3E2C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" name="Shape 1"/>
          <p:cNvSpPr/>
          <p:nvPr/>
        </p:nvSpPr>
        <p:spPr>
          <a:xfrm>
            <a:off x="1463040" y="256032"/>
            <a:ext cx="128016" cy="128016"/>
          </a:xfrm>
          <a:prstGeom prst="ellipse">
            <a:avLst/>
          </a:prstGeom>
          <a:solidFill>
            <a:srgbClr val="A3E2C9">
              <a:alpha val="50000"/>
            </a:srgbClr>
          </a:solidFill>
          <a:ln w="12700">
            <a:solidFill>
              <a:srgbClr val="A3E2C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4" name="Shape 2"/>
          <p:cNvSpPr/>
          <p:nvPr/>
        </p:nvSpPr>
        <p:spPr>
          <a:xfrm>
            <a:off x="2468880" y="256032"/>
            <a:ext cx="128016" cy="128016"/>
          </a:xfrm>
          <a:prstGeom prst="ellipse">
            <a:avLst/>
          </a:prstGeom>
          <a:solidFill>
            <a:srgbClr val="A3E2C9">
              <a:alpha val="50000"/>
            </a:srgbClr>
          </a:solidFill>
          <a:ln w="12700">
            <a:solidFill>
              <a:srgbClr val="A3E2C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" name="Shape 3"/>
          <p:cNvSpPr/>
          <p:nvPr/>
        </p:nvSpPr>
        <p:spPr>
          <a:xfrm>
            <a:off x="3474720" y="256032"/>
            <a:ext cx="128016" cy="128016"/>
          </a:xfrm>
          <a:prstGeom prst="ellipse">
            <a:avLst/>
          </a:prstGeom>
          <a:solidFill>
            <a:srgbClr val="A3E2C9">
              <a:alpha val="50000"/>
            </a:srgbClr>
          </a:solidFill>
          <a:ln w="12700">
            <a:solidFill>
              <a:srgbClr val="A3E2C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" name="Shape 4"/>
          <p:cNvSpPr/>
          <p:nvPr/>
        </p:nvSpPr>
        <p:spPr>
          <a:xfrm>
            <a:off x="4480560" y="256032"/>
            <a:ext cx="128016" cy="128016"/>
          </a:xfrm>
          <a:prstGeom prst="ellipse">
            <a:avLst/>
          </a:prstGeom>
          <a:solidFill>
            <a:srgbClr val="A3E2C9">
              <a:alpha val="50000"/>
            </a:srgbClr>
          </a:solidFill>
          <a:ln w="12700">
            <a:solidFill>
              <a:srgbClr val="A3E2C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7" name="Shape 5"/>
          <p:cNvSpPr/>
          <p:nvPr/>
        </p:nvSpPr>
        <p:spPr>
          <a:xfrm>
            <a:off x="5486400" y="256032"/>
            <a:ext cx="128016" cy="128016"/>
          </a:xfrm>
          <a:prstGeom prst="ellipse">
            <a:avLst/>
          </a:prstGeom>
          <a:solidFill>
            <a:srgbClr val="A3E2C9">
              <a:alpha val="50000"/>
            </a:srgbClr>
          </a:solidFill>
          <a:ln w="12700">
            <a:solidFill>
              <a:srgbClr val="A3E2C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8" name="Shape 6"/>
          <p:cNvSpPr/>
          <p:nvPr/>
        </p:nvSpPr>
        <p:spPr>
          <a:xfrm>
            <a:off x="2560320" y="914400"/>
            <a:ext cx="5029200" cy="5029200"/>
          </a:xfrm>
          <a:prstGeom prst="ellipse">
            <a:avLst/>
          </a:prstGeom>
          <a:solidFill>
            <a:srgbClr val="112920"/>
          </a:solidFill>
          <a:ln w="12700">
            <a:solidFill>
              <a:srgbClr val="A3E2C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9" name="Shape 7"/>
          <p:cNvSpPr/>
          <p:nvPr/>
        </p:nvSpPr>
        <p:spPr>
          <a:xfrm>
            <a:off x="3017520" y="1371600"/>
            <a:ext cx="4114800" cy="4114800"/>
          </a:xfrm>
          <a:prstGeom prst="ellipse">
            <a:avLst/>
          </a:prstGeom>
          <a:solidFill>
            <a:srgbClr val="163327"/>
          </a:solidFill>
          <a:ln w="12700">
            <a:solidFill>
              <a:srgbClr val="A3E2C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0" name="Shape 8"/>
          <p:cNvSpPr/>
          <p:nvPr/>
        </p:nvSpPr>
        <p:spPr>
          <a:xfrm>
            <a:off x="1786890" y="1525016"/>
            <a:ext cx="3365500" cy="502920"/>
          </a:xfrm>
          <a:prstGeom prst="roundRect">
            <a:avLst>
              <a:gd name="adj" fmla="val 21429"/>
            </a:avLst>
          </a:prstGeom>
          <a:solidFill>
            <a:srgbClr val="A3E2C9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1" name="Text 9"/>
          <p:cNvSpPr/>
          <p:nvPr/>
        </p:nvSpPr>
        <p:spPr>
          <a:xfrm>
            <a:off x="1746250" y="1645920"/>
            <a:ext cx="33655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1E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CASE STUDY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14960" y="2411476"/>
            <a:ext cx="6217920" cy="328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Business</a:t>
            </a:r>
            <a:endParaRPr lang="en-US" sz="4800" dirty="0"/>
          </a:p>
          <a:p>
            <a:pPr marL="0" indent="0" algn="ctr">
              <a:buNone/>
            </a:pPr>
            <a:r>
              <a:rPr lang="en-US" sz="4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91% of</a:t>
            </a:r>
            <a:endParaRPr lang="en-US" sz="4800" dirty="0"/>
          </a:p>
          <a:p>
            <a:pPr marL="0" indent="0" algn="ctr">
              <a:buNone/>
            </a:pPr>
            <a:r>
              <a:rPr lang="en-US" sz="4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Target,</a:t>
            </a:r>
            <a:endParaRPr lang="en-US" sz="4800" dirty="0"/>
          </a:p>
          <a:p>
            <a:pPr marL="0" indent="0" algn="ctr">
              <a:buNone/>
            </a:pPr>
            <a:r>
              <a:rPr lang="en-US" sz="4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 Worry?</a:t>
            </a:r>
            <a:endParaRPr lang="en-US" sz="4800" dirty="0"/>
          </a:p>
        </p:txBody>
      </p:sp>
      <p:sp>
        <p:nvSpPr>
          <p:cNvPr id="13" name="Shape 11"/>
          <p:cNvSpPr/>
          <p:nvPr/>
        </p:nvSpPr>
        <p:spPr>
          <a:xfrm>
            <a:off x="2743200" y="5673852"/>
            <a:ext cx="1371600" cy="3657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4" name="Text 12"/>
          <p:cNvSpPr/>
          <p:nvPr/>
        </p:nvSpPr>
        <p:spPr>
          <a:xfrm>
            <a:off x="497840" y="5932932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surface-level numbers lie, and how I used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i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to find a hidden retail bottleneck.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5760" y="7632700"/>
            <a:ext cx="6217920" cy="22860"/>
          </a:xfrm>
          <a:prstGeom prst="rect">
            <a:avLst/>
          </a:prstGeom>
          <a:solidFill>
            <a:srgbClr val="A3E2C9">
              <a:alpha val="40000"/>
            </a:srgbClr>
          </a:solidFill>
          <a:ln w="12700">
            <a:solidFill>
              <a:srgbClr val="A3E2C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7" name="Text 15"/>
          <p:cNvSpPr/>
          <p:nvPr/>
        </p:nvSpPr>
        <p:spPr>
          <a:xfrm>
            <a:off x="5394960" y="774573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Left ➡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A3E2C9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E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9.01% Performance Gap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1410247"/>
            <a:ext cx="6355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reached 10.3M against an 11.3M target.</a:t>
            </a:r>
            <a:r>
              <a:rPr lang="en-US" dirty="0"/>
              <a:t> </a:t>
            </a:r>
            <a:r>
              <a:rPr lang="en-US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90.99% achievement looks okay on paper, but</a:t>
            </a:r>
            <a:r>
              <a:rPr lang="en-US" dirty="0"/>
              <a:t> </a:t>
            </a:r>
            <a:r>
              <a:rPr lang="en-US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exactly is the leakage happening?</a:t>
            </a:r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ECB1120-9BB6-FA60-D294-24F3863CD43E}"/>
              </a:ext>
            </a:extLst>
          </p:cNvPr>
          <p:cNvGrpSpPr/>
          <p:nvPr/>
        </p:nvGrpSpPr>
        <p:grpSpPr>
          <a:xfrm>
            <a:off x="320040" y="2836672"/>
            <a:ext cx="3017520" cy="1602105"/>
            <a:chOff x="320040" y="2514600"/>
            <a:chExt cx="3017520" cy="1234440"/>
          </a:xfrm>
        </p:grpSpPr>
        <p:sp>
          <p:nvSpPr>
            <p:cNvPr id="6" name="Shape 4"/>
            <p:cNvSpPr/>
            <p:nvPr/>
          </p:nvSpPr>
          <p:spPr>
            <a:xfrm>
              <a:off x="320040" y="2514600"/>
              <a:ext cx="3017520" cy="1234440"/>
            </a:xfrm>
            <a:prstGeom prst="roundRect">
              <a:avLst>
                <a:gd name="adj" fmla="val 8889"/>
              </a:avLst>
            </a:prstGeom>
            <a:solidFill>
              <a:srgbClr val="163327"/>
            </a:solidFill>
            <a:ln/>
            <a:effectLst>
              <a:outerShdw blurRad="101600" dist="38100" dir="27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en-001" sz="2400"/>
            </a:p>
          </p:txBody>
        </p:sp>
        <p:sp>
          <p:nvSpPr>
            <p:cNvPr id="7" name="Text 5"/>
            <p:cNvSpPr/>
            <p:nvPr/>
          </p:nvSpPr>
          <p:spPr>
            <a:xfrm>
              <a:off x="393192" y="2578608"/>
              <a:ext cx="2871216" cy="6789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A3E2C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10.3M</a:t>
              </a:r>
              <a:endParaRPr lang="en-US" sz="36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393192" y="3255264"/>
              <a:ext cx="2871216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E0E0E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Total Sales Achieved</a:t>
              </a:r>
              <a:endParaRPr lang="en-US" sz="16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A029A3D-9791-8EF1-B393-9CA12849998F}"/>
              </a:ext>
            </a:extLst>
          </p:cNvPr>
          <p:cNvGrpSpPr/>
          <p:nvPr/>
        </p:nvGrpSpPr>
        <p:grpSpPr>
          <a:xfrm>
            <a:off x="3520440" y="2836672"/>
            <a:ext cx="3017520" cy="1599311"/>
            <a:chOff x="3520440" y="2514600"/>
            <a:chExt cx="3017520" cy="1234440"/>
          </a:xfrm>
        </p:grpSpPr>
        <p:sp>
          <p:nvSpPr>
            <p:cNvPr id="9" name="Shape 7"/>
            <p:cNvSpPr/>
            <p:nvPr/>
          </p:nvSpPr>
          <p:spPr>
            <a:xfrm>
              <a:off x="3520440" y="2514600"/>
              <a:ext cx="3017520" cy="1234440"/>
            </a:xfrm>
            <a:prstGeom prst="roundRect">
              <a:avLst>
                <a:gd name="adj" fmla="val 8889"/>
              </a:avLst>
            </a:prstGeom>
            <a:solidFill>
              <a:srgbClr val="163327"/>
            </a:solidFill>
            <a:ln/>
            <a:effectLst>
              <a:outerShdw blurRad="101600" dist="38100" dir="27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en-001"/>
            </a:p>
          </p:txBody>
        </p:sp>
        <p:sp>
          <p:nvSpPr>
            <p:cNvPr id="10" name="Text 8"/>
            <p:cNvSpPr/>
            <p:nvPr/>
          </p:nvSpPr>
          <p:spPr>
            <a:xfrm>
              <a:off x="3593592" y="2578608"/>
              <a:ext cx="2871216" cy="6789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FFD7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11.3M</a:t>
              </a:r>
              <a:endParaRPr lang="en-US" sz="3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3593592" y="3255264"/>
              <a:ext cx="2871216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E0E0E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Total Target</a:t>
              </a:r>
              <a:endParaRPr lang="en-US" sz="16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E8C8970-8245-34F7-0A83-422A1B0A21AF}"/>
              </a:ext>
            </a:extLst>
          </p:cNvPr>
          <p:cNvGrpSpPr/>
          <p:nvPr/>
        </p:nvGrpSpPr>
        <p:grpSpPr>
          <a:xfrm>
            <a:off x="320040" y="4627118"/>
            <a:ext cx="3017520" cy="1572514"/>
            <a:chOff x="320040" y="3931920"/>
            <a:chExt cx="3017520" cy="1234440"/>
          </a:xfrm>
        </p:grpSpPr>
        <p:sp>
          <p:nvSpPr>
            <p:cNvPr id="12" name="Shape 10"/>
            <p:cNvSpPr/>
            <p:nvPr/>
          </p:nvSpPr>
          <p:spPr>
            <a:xfrm>
              <a:off x="320040" y="3931920"/>
              <a:ext cx="3017520" cy="1234440"/>
            </a:xfrm>
            <a:prstGeom prst="roundRect">
              <a:avLst>
                <a:gd name="adj" fmla="val 8889"/>
              </a:avLst>
            </a:prstGeom>
            <a:solidFill>
              <a:srgbClr val="163327"/>
            </a:solidFill>
            <a:ln/>
            <a:effectLst>
              <a:outerShdw blurRad="101600" dist="38100" dir="27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en-001"/>
            </a:p>
          </p:txBody>
        </p:sp>
        <p:sp>
          <p:nvSpPr>
            <p:cNvPr id="13" name="Text 11"/>
            <p:cNvSpPr/>
            <p:nvPr/>
          </p:nvSpPr>
          <p:spPr>
            <a:xfrm>
              <a:off x="393192" y="3995928"/>
              <a:ext cx="2871216" cy="6789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A3E2C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90.99%</a:t>
              </a:r>
              <a:endParaRPr lang="en-US" sz="36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393192" y="4672584"/>
              <a:ext cx="2871216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E0E0E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Target Achieved</a:t>
              </a:r>
              <a:endParaRPr lang="en-US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6DA12CF-29A7-01ED-D274-77300EEA4A18}"/>
              </a:ext>
            </a:extLst>
          </p:cNvPr>
          <p:cNvGrpSpPr/>
          <p:nvPr/>
        </p:nvGrpSpPr>
        <p:grpSpPr>
          <a:xfrm>
            <a:off x="3520440" y="4627118"/>
            <a:ext cx="3017520" cy="1572514"/>
            <a:chOff x="3520440" y="3931920"/>
            <a:chExt cx="3017520" cy="1234440"/>
          </a:xfrm>
        </p:grpSpPr>
        <p:sp>
          <p:nvSpPr>
            <p:cNvPr id="15" name="Shape 13"/>
            <p:cNvSpPr/>
            <p:nvPr/>
          </p:nvSpPr>
          <p:spPr>
            <a:xfrm>
              <a:off x="3520440" y="3931920"/>
              <a:ext cx="3017520" cy="1234440"/>
            </a:xfrm>
            <a:prstGeom prst="roundRect">
              <a:avLst>
                <a:gd name="adj" fmla="val 8889"/>
              </a:avLst>
            </a:prstGeom>
            <a:solidFill>
              <a:srgbClr val="163327"/>
            </a:solidFill>
            <a:ln/>
            <a:effectLst>
              <a:outerShdw blurRad="101600" dist="38100" dir="27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en-001"/>
            </a:p>
          </p:txBody>
        </p:sp>
        <p:sp>
          <p:nvSpPr>
            <p:cNvPr id="16" name="Text 14"/>
            <p:cNvSpPr/>
            <p:nvPr/>
          </p:nvSpPr>
          <p:spPr>
            <a:xfrm>
              <a:off x="3593592" y="3995928"/>
              <a:ext cx="2871216" cy="6789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FF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9.01%</a:t>
              </a:r>
              <a:endParaRPr lang="en-US" sz="36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3593592" y="4672584"/>
              <a:ext cx="2871216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E0E0E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Performance Gap</a:t>
              </a:r>
              <a:endParaRPr lang="en-US" sz="16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C21353B-EAB7-34EE-CBCA-7010A208C273}"/>
              </a:ext>
            </a:extLst>
          </p:cNvPr>
          <p:cNvGrpSpPr/>
          <p:nvPr/>
        </p:nvGrpSpPr>
        <p:grpSpPr>
          <a:xfrm>
            <a:off x="320040" y="6533388"/>
            <a:ext cx="6217920" cy="505460"/>
            <a:chOff x="320040" y="5346700"/>
            <a:chExt cx="6217920" cy="505460"/>
          </a:xfrm>
        </p:grpSpPr>
        <p:sp>
          <p:nvSpPr>
            <p:cNvPr id="18" name="Shape 16"/>
            <p:cNvSpPr/>
            <p:nvPr/>
          </p:nvSpPr>
          <p:spPr>
            <a:xfrm>
              <a:off x="320040" y="5349240"/>
              <a:ext cx="6217920" cy="502920"/>
            </a:xfrm>
            <a:prstGeom prst="roundRect">
              <a:avLst>
                <a:gd name="adj" fmla="val 18182"/>
              </a:avLst>
            </a:prstGeom>
            <a:solidFill>
              <a:srgbClr val="163327"/>
            </a:solidFill>
            <a:ln/>
          </p:spPr>
          <p:txBody>
            <a:bodyPr/>
            <a:lstStyle/>
            <a:p>
              <a:endParaRPr lang="en-001" sz="2400"/>
            </a:p>
          </p:txBody>
        </p:sp>
        <p:sp>
          <p:nvSpPr>
            <p:cNvPr id="19" name="Shape 17"/>
            <p:cNvSpPr/>
            <p:nvPr/>
          </p:nvSpPr>
          <p:spPr>
            <a:xfrm>
              <a:off x="320040" y="5349240"/>
              <a:ext cx="5486400" cy="502920"/>
            </a:xfrm>
            <a:prstGeom prst="roundRect">
              <a:avLst>
                <a:gd name="adj" fmla="val 18182"/>
              </a:avLst>
            </a:prstGeom>
            <a:solidFill>
              <a:srgbClr val="A3E2C9"/>
            </a:solidFill>
            <a:ln/>
          </p:spPr>
          <p:txBody>
            <a:bodyPr/>
            <a:lstStyle/>
            <a:p>
              <a:endParaRPr lang="en-001" sz="2400"/>
            </a:p>
          </p:txBody>
        </p:sp>
        <p:sp>
          <p:nvSpPr>
            <p:cNvPr id="20" name="Text 18"/>
            <p:cNvSpPr/>
            <p:nvPr/>
          </p:nvSpPr>
          <p:spPr>
            <a:xfrm>
              <a:off x="457200" y="5367528"/>
              <a:ext cx="3200400" cy="4663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B1E1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90.99% Achieved</a:t>
              </a:r>
              <a:endParaRPr lang="en-US" sz="14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5733288" y="5346700"/>
              <a:ext cx="731520" cy="4663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b="1" dirty="0">
                  <a:solidFill>
                    <a:srgbClr val="FF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9.01% Gap</a:t>
              </a:r>
              <a:endParaRPr lang="en-US" sz="1000" dirty="0"/>
            </a:p>
          </p:txBody>
        </p:sp>
      </p:grpSp>
      <p:sp>
        <p:nvSpPr>
          <p:cNvPr id="23" name="Shape 21"/>
          <p:cNvSpPr/>
          <p:nvPr/>
        </p:nvSpPr>
        <p:spPr>
          <a:xfrm>
            <a:off x="0" y="8202168"/>
            <a:ext cx="6858000" cy="365760"/>
          </a:xfrm>
          <a:prstGeom prst="rect">
            <a:avLst/>
          </a:prstGeom>
          <a:solidFill>
            <a:srgbClr val="0D2B22"/>
          </a:solidFill>
          <a:ln w="12700">
            <a:solidFill>
              <a:srgbClr val="0D2B22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4" name="Text 22"/>
          <p:cNvSpPr/>
          <p:nvPr/>
        </p:nvSpPr>
        <p:spPr>
          <a:xfrm>
            <a:off x="182880" y="820216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3E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investigate the regions ➡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A3E2C9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E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Revenue is Equal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1325880"/>
            <a:ext cx="6217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Barishal generated the most revenue, but Dhaka was most efficient at hitting targets. Rangpur lagged behind at just 86.96%. We isolated Rangpur for a deep-dive.</a:t>
            </a:r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17CBE19-50E5-C5BB-D9C1-97CA669CD42D}"/>
              </a:ext>
            </a:extLst>
          </p:cNvPr>
          <p:cNvGrpSpPr/>
          <p:nvPr/>
        </p:nvGrpSpPr>
        <p:grpSpPr>
          <a:xfrm>
            <a:off x="251460" y="2442599"/>
            <a:ext cx="6355080" cy="2534920"/>
            <a:chOff x="320040" y="2331720"/>
            <a:chExt cx="6217920" cy="1819104"/>
          </a:xfrm>
        </p:grpSpPr>
        <p:sp>
          <p:nvSpPr>
            <p:cNvPr id="6" name="Shape 4"/>
            <p:cNvSpPr/>
            <p:nvPr/>
          </p:nvSpPr>
          <p:spPr>
            <a:xfrm>
              <a:off x="320040" y="2331720"/>
              <a:ext cx="6217920" cy="1819104"/>
            </a:xfrm>
            <a:prstGeom prst="roundRect">
              <a:avLst>
                <a:gd name="adj" fmla="val 6032"/>
              </a:avLst>
            </a:prstGeom>
            <a:solidFill>
              <a:srgbClr val="163327"/>
            </a:solidFill>
            <a:ln/>
            <a:effectLst>
              <a:outerShdw blurRad="101600" dist="38100" dir="27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en-001"/>
            </a:p>
          </p:txBody>
        </p:sp>
        <p:pic>
          <p:nvPicPr>
            <p:cNvPr id="7" name="Image 0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393192" y="2423160"/>
              <a:ext cx="6071616" cy="1636224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C2581DA-0AC5-FBD1-A094-E2E9FE0E7381}"/>
              </a:ext>
            </a:extLst>
          </p:cNvPr>
          <p:cNvGrpSpPr/>
          <p:nvPr/>
        </p:nvGrpSpPr>
        <p:grpSpPr>
          <a:xfrm>
            <a:off x="302222" y="5292343"/>
            <a:ext cx="6253557" cy="1954277"/>
            <a:chOff x="434339" y="4553361"/>
            <a:chExt cx="5989323" cy="1070200"/>
          </a:xfrm>
        </p:grpSpPr>
        <p:sp>
          <p:nvSpPr>
            <p:cNvPr id="8" name="Shape 5"/>
            <p:cNvSpPr/>
            <p:nvPr/>
          </p:nvSpPr>
          <p:spPr>
            <a:xfrm>
              <a:off x="434339" y="4572001"/>
              <a:ext cx="2926080" cy="1051560"/>
            </a:xfrm>
            <a:prstGeom prst="roundRect">
              <a:avLst>
                <a:gd name="adj" fmla="val 10435"/>
              </a:avLst>
            </a:prstGeom>
            <a:solidFill>
              <a:srgbClr val="163327"/>
            </a:solidFill>
            <a:ln/>
            <a:effectLst>
              <a:outerShdw blurRad="101600" dist="38100" dir="27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en-001"/>
            </a:p>
          </p:txBody>
        </p:sp>
        <p:sp>
          <p:nvSpPr>
            <p:cNvPr id="9" name="Text 6"/>
            <p:cNvSpPr/>
            <p:nvPr/>
          </p:nvSpPr>
          <p:spPr>
            <a:xfrm>
              <a:off x="525779" y="4795639"/>
              <a:ext cx="26517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A3E2C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🏆 Most Efficient</a:t>
              </a:r>
              <a:endParaRPr lang="en-US" sz="200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577417" y="4919205"/>
              <a:ext cx="265176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FAFAF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Dhaka - 94.34%</a:t>
              </a:r>
              <a:endParaRPr lang="en-US" dirty="0"/>
            </a:p>
            <a:p>
              <a:pPr marL="0" indent="0" algn="ctr">
                <a:buNone/>
              </a:pPr>
              <a:r>
                <a:rPr lang="en-US" dirty="0">
                  <a:solidFill>
                    <a:srgbClr val="FAFAF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Target Achievement</a:t>
              </a:r>
              <a:endParaRPr lang="en-US" dirty="0"/>
            </a:p>
          </p:txBody>
        </p:sp>
        <p:sp>
          <p:nvSpPr>
            <p:cNvPr id="11" name="Shape 8"/>
            <p:cNvSpPr/>
            <p:nvPr/>
          </p:nvSpPr>
          <p:spPr>
            <a:xfrm>
              <a:off x="3497582" y="4553361"/>
              <a:ext cx="2926080" cy="1051560"/>
            </a:xfrm>
            <a:prstGeom prst="roundRect">
              <a:avLst>
                <a:gd name="adj" fmla="val 10435"/>
              </a:avLst>
            </a:prstGeom>
            <a:solidFill>
              <a:srgbClr val="163327"/>
            </a:solidFill>
            <a:ln/>
            <a:effectLst>
              <a:outerShdw blurRad="101600" dist="38100" dir="27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en-001"/>
            </a:p>
          </p:txBody>
        </p:sp>
        <p:sp>
          <p:nvSpPr>
            <p:cNvPr id="12" name="Text 9"/>
            <p:cNvSpPr/>
            <p:nvPr/>
          </p:nvSpPr>
          <p:spPr>
            <a:xfrm>
              <a:off x="3497582" y="4777741"/>
              <a:ext cx="26517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⚠️  Lagging Region</a:t>
              </a:r>
              <a:endParaRPr lang="en-US" sz="200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3628823" y="4904344"/>
              <a:ext cx="265176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FAFAF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Rangpur - 86.96%</a:t>
              </a:r>
              <a:endParaRPr lang="en-US" dirty="0"/>
            </a:p>
            <a:p>
              <a:pPr marL="0" indent="0" algn="ctr">
                <a:buNone/>
              </a:pPr>
              <a:r>
                <a:rPr lang="en-US" dirty="0">
                  <a:solidFill>
                    <a:srgbClr val="FAFAF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Lowest Performance</a:t>
              </a:r>
              <a:endParaRPr lang="en-US" dirty="0"/>
            </a:p>
          </p:txBody>
        </p:sp>
      </p:grpSp>
      <p:sp>
        <p:nvSpPr>
          <p:cNvPr id="14" name="Shape 11"/>
          <p:cNvSpPr/>
          <p:nvPr/>
        </p:nvSpPr>
        <p:spPr>
          <a:xfrm>
            <a:off x="0" y="8202168"/>
            <a:ext cx="6858000" cy="365760"/>
          </a:xfrm>
          <a:prstGeom prst="rect">
            <a:avLst/>
          </a:prstGeom>
          <a:solidFill>
            <a:srgbClr val="0D2B22"/>
          </a:solidFill>
          <a:ln w="12700">
            <a:solidFill>
              <a:srgbClr val="0D2B22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5" name="Text 12"/>
          <p:cNvSpPr/>
          <p:nvPr/>
        </p:nvSpPr>
        <p:spPr>
          <a:xfrm>
            <a:off x="182880" y="820216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3E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Rangpur fall behind? Checking customer satisfaction... ➡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A3E2C9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E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730427"/>
            <a:ext cx="6217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Warning Signs in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Ratings</a:t>
            </a:r>
            <a:endParaRPr lang="en-US" sz="3200" dirty="0">
              <a:solidFill>
                <a:srgbClr val="FFD7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40" y="1664208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customer feedback revealed a troubling pattern. In Rangpur, over half of all ratings , 65 out of 124 dropped below 3 stars. Customers were clearly signaling their dissatisfaction.</a:t>
            </a:r>
            <a:endParaRPr lang="en-US" sz="16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6EE1557-E58D-7766-F842-2ACD022260DA}"/>
              </a:ext>
            </a:extLst>
          </p:cNvPr>
          <p:cNvGrpSpPr/>
          <p:nvPr/>
        </p:nvGrpSpPr>
        <p:grpSpPr>
          <a:xfrm>
            <a:off x="320040" y="2697480"/>
            <a:ext cx="6217920" cy="3093720"/>
            <a:chOff x="320040" y="2697480"/>
            <a:chExt cx="6217920" cy="2726005"/>
          </a:xfrm>
        </p:grpSpPr>
        <p:sp>
          <p:nvSpPr>
            <p:cNvPr id="6" name="Shape 4"/>
            <p:cNvSpPr/>
            <p:nvPr/>
          </p:nvSpPr>
          <p:spPr>
            <a:xfrm>
              <a:off x="320040" y="2697480"/>
              <a:ext cx="6217920" cy="2726005"/>
            </a:xfrm>
            <a:prstGeom prst="roundRect">
              <a:avLst>
                <a:gd name="adj" fmla="val 4025"/>
              </a:avLst>
            </a:prstGeom>
            <a:solidFill>
              <a:srgbClr val="163327"/>
            </a:solidFill>
            <a:ln/>
            <a:effectLst>
              <a:outerShdw blurRad="101600" dist="38100" dir="27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en-001"/>
            </a:p>
          </p:txBody>
        </p:sp>
        <p:pic>
          <p:nvPicPr>
            <p:cNvPr id="7" name="Image 0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393192" y="2788920"/>
              <a:ext cx="6071616" cy="2543125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3263861-D027-9F7C-61DA-E941A5EDE677}"/>
              </a:ext>
            </a:extLst>
          </p:cNvPr>
          <p:cNvGrpSpPr/>
          <p:nvPr/>
        </p:nvGrpSpPr>
        <p:grpSpPr>
          <a:xfrm>
            <a:off x="320040" y="6108192"/>
            <a:ext cx="6217920" cy="914400"/>
            <a:chOff x="320040" y="5669280"/>
            <a:chExt cx="6217920" cy="914400"/>
          </a:xfrm>
        </p:grpSpPr>
        <p:sp>
          <p:nvSpPr>
            <p:cNvPr id="8" name="Shape 5"/>
            <p:cNvSpPr/>
            <p:nvPr/>
          </p:nvSpPr>
          <p:spPr>
            <a:xfrm>
              <a:off x="320040" y="5669280"/>
              <a:ext cx="6217920" cy="914400"/>
            </a:xfrm>
            <a:prstGeom prst="roundRect">
              <a:avLst>
                <a:gd name="adj" fmla="val 12000"/>
              </a:avLst>
            </a:prstGeom>
            <a:solidFill>
              <a:srgbClr val="163327"/>
            </a:solidFill>
            <a:ln/>
            <a:effectLst>
              <a:outerShdw blurRad="101600" dist="38100" dir="27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en-001"/>
            </a:p>
          </p:txBody>
        </p:sp>
        <p:sp>
          <p:nvSpPr>
            <p:cNvPr id="9" name="Text 6"/>
            <p:cNvSpPr/>
            <p:nvPr/>
          </p:nvSpPr>
          <p:spPr>
            <a:xfrm>
              <a:off x="457200" y="5742432"/>
              <a:ext cx="5943600" cy="7680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i="1" dirty="0">
                  <a:solidFill>
                    <a:srgbClr val="FFD7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Rangpur Alert: 52% of ratings fell below 3 stars — the highest negative rate of all 8 regions.</a:t>
              </a:r>
              <a:endParaRPr lang="en-US" dirty="0"/>
            </a:p>
          </p:txBody>
        </p:sp>
      </p:grpSp>
      <p:sp>
        <p:nvSpPr>
          <p:cNvPr id="10" name="Shape 7"/>
          <p:cNvSpPr/>
          <p:nvPr/>
        </p:nvSpPr>
        <p:spPr>
          <a:xfrm>
            <a:off x="0" y="8202168"/>
            <a:ext cx="6858000" cy="365760"/>
          </a:xfrm>
          <a:prstGeom prst="rect">
            <a:avLst/>
          </a:prstGeom>
          <a:solidFill>
            <a:srgbClr val="0D2B22"/>
          </a:solidFill>
          <a:ln w="12700">
            <a:solidFill>
              <a:srgbClr val="0D2B22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1" name="Text 8"/>
          <p:cNvSpPr/>
          <p:nvPr/>
        </p:nvSpPr>
        <p:spPr>
          <a:xfrm>
            <a:off x="182880" y="820216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3E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caused this dissatisfaction? The next slide holds the answer... ➡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A3E2C9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E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51460" y="638698"/>
            <a:ext cx="600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Smoking Gun:</a:t>
            </a:r>
            <a:r>
              <a:rPr lang="en-US" sz="3200" dirty="0"/>
              <a:t> </a:t>
            </a:r>
            <a:r>
              <a:rPr lang="en-US" sz="3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Delays </a:t>
            </a:r>
            <a:endParaRPr lang="en-US" sz="3200" dirty="0">
              <a:solidFill>
                <a:srgbClr val="FFD7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13855" y="151568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is unambiguous. While Dhaka delivers in under 3 days, Rangpur takes nearly 6.5 days. This delay destroys customer trust and kills repeat sales.</a:t>
            </a:r>
            <a:r>
              <a:rPr lang="en-US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FA713FA-D6EE-E7CD-92E8-B822356CCD29}"/>
              </a:ext>
            </a:extLst>
          </p:cNvPr>
          <p:cNvGrpSpPr/>
          <p:nvPr/>
        </p:nvGrpSpPr>
        <p:grpSpPr>
          <a:xfrm>
            <a:off x="251460" y="2663618"/>
            <a:ext cx="6355080" cy="3360962"/>
            <a:chOff x="320040" y="2560320"/>
            <a:chExt cx="6217920" cy="3066575"/>
          </a:xfrm>
        </p:grpSpPr>
        <p:sp>
          <p:nvSpPr>
            <p:cNvPr id="6" name="Shape 4"/>
            <p:cNvSpPr/>
            <p:nvPr/>
          </p:nvSpPr>
          <p:spPr>
            <a:xfrm>
              <a:off x="320040" y="2560320"/>
              <a:ext cx="6217920" cy="3066575"/>
            </a:xfrm>
            <a:prstGeom prst="roundRect">
              <a:avLst>
                <a:gd name="adj" fmla="val 3578"/>
              </a:avLst>
            </a:prstGeom>
            <a:solidFill>
              <a:srgbClr val="163327"/>
            </a:solidFill>
            <a:ln/>
            <a:effectLst>
              <a:outerShdw blurRad="101600" dist="38100" dir="27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en-001"/>
            </a:p>
          </p:txBody>
        </p:sp>
        <p:pic>
          <p:nvPicPr>
            <p:cNvPr id="7" name="Image 0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393192" y="2651760"/>
              <a:ext cx="6071616" cy="2883695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AD0487C-7E2D-349E-C214-11A3C2380ACD}"/>
              </a:ext>
            </a:extLst>
          </p:cNvPr>
          <p:cNvGrpSpPr/>
          <p:nvPr/>
        </p:nvGrpSpPr>
        <p:grpSpPr>
          <a:xfrm>
            <a:off x="320040" y="6245352"/>
            <a:ext cx="6217920" cy="1188720"/>
            <a:chOff x="320040" y="5669280"/>
            <a:chExt cx="6217920" cy="1188720"/>
          </a:xfrm>
        </p:grpSpPr>
        <p:sp>
          <p:nvSpPr>
            <p:cNvPr id="8" name="Shape 5"/>
            <p:cNvSpPr/>
            <p:nvPr/>
          </p:nvSpPr>
          <p:spPr>
            <a:xfrm>
              <a:off x="320040" y="5669280"/>
              <a:ext cx="2926080" cy="1188720"/>
            </a:xfrm>
            <a:prstGeom prst="roundRect">
              <a:avLst>
                <a:gd name="adj" fmla="val 9231"/>
              </a:avLst>
            </a:prstGeom>
            <a:solidFill>
              <a:srgbClr val="163327"/>
            </a:solidFill>
            <a:ln/>
            <a:effectLst>
              <a:outerShdw blurRad="101600" dist="38100" dir="27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en-001"/>
            </a:p>
          </p:txBody>
        </p:sp>
        <p:sp>
          <p:nvSpPr>
            <p:cNvPr id="9" name="Text 6"/>
            <p:cNvSpPr/>
            <p:nvPr/>
          </p:nvSpPr>
          <p:spPr>
            <a:xfrm>
              <a:off x="393192" y="5733288"/>
              <a:ext cx="2779776" cy="6537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3000" b="1" dirty="0">
                  <a:solidFill>
                    <a:srgbClr val="A3E2C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2.97 days</a:t>
              </a:r>
              <a:endParaRPr lang="en-US" sz="300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393192" y="6382512"/>
              <a:ext cx="2779776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E0E0E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Dhaka (Best)</a:t>
              </a:r>
              <a:endParaRPr lang="en-US" sz="1400" dirty="0"/>
            </a:p>
          </p:txBody>
        </p:sp>
        <p:sp>
          <p:nvSpPr>
            <p:cNvPr id="11" name="Shape 8"/>
            <p:cNvSpPr/>
            <p:nvPr/>
          </p:nvSpPr>
          <p:spPr>
            <a:xfrm>
              <a:off x="3611880" y="5669280"/>
              <a:ext cx="2926080" cy="1188720"/>
            </a:xfrm>
            <a:prstGeom prst="roundRect">
              <a:avLst>
                <a:gd name="adj" fmla="val 9231"/>
              </a:avLst>
            </a:prstGeom>
            <a:solidFill>
              <a:srgbClr val="163327"/>
            </a:solidFill>
            <a:ln/>
            <a:effectLst>
              <a:outerShdw blurRad="101600" dist="38100" dir="27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en-001"/>
            </a:p>
          </p:txBody>
        </p:sp>
        <p:sp>
          <p:nvSpPr>
            <p:cNvPr id="12" name="Text 9"/>
            <p:cNvSpPr/>
            <p:nvPr/>
          </p:nvSpPr>
          <p:spPr>
            <a:xfrm>
              <a:off x="3685032" y="5733288"/>
              <a:ext cx="2779776" cy="6537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3000" b="1" dirty="0">
                  <a:solidFill>
                    <a:srgbClr val="FF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6.43 days</a:t>
              </a:r>
              <a:endParaRPr lang="en-US" sz="300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3685032" y="6382512"/>
              <a:ext cx="2779776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E0E0E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Rangpur (Worst)</a:t>
              </a:r>
              <a:endParaRPr lang="en-US" sz="1400" dirty="0"/>
            </a:p>
          </p:txBody>
        </p:sp>
      </p:grpSp>
      <p:sp>
        <p:nvSpPr>
          <p:cNvPr id="14" name="Shape 11"/>
          <p:cNvSpPr/>
          <p:nvPr/>
        </p:nvSpPr>
        <p:spPr>
          <a:xfrm>
            <a:off x="0" y="8202168"/>
            <a:ext cx="6858000" cy="365760"/>
          </a:xfrm>
          <a:prstGeom prst="rect">
            <a:avLst/>
          </a:prstGeom>
          <a:solidFill>
            <a:srgbClr val="0D2B22"/>
          </a:solidFill>
          <a:ln w="12700">
            <a:solidFill>
              <a:srgbClr val="0D2B22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5" name="Text 12"/>
          <p:cNvSpPr/>
          <p:nvPr/>
        </p:nvSpPr>
        <p:spPr>
          <a:xfrm>
            <a:off x="182880" y="820216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3E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pinpoint exactly where to take action... ➡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A3E2C9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E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OF 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84632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Store-Level Drill Down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991631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can't fix an entire region overnight. By drilling into store-level data, we isolated the exact culprits, like Central Road Store taking 7.25 days to ship orders.</a:t>
            </a:r>
            <a:endParaRPr lang="en-US" sz="16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D02196D-670C-A9FC-950A-3370CDD14FA3}"/>
              </a:ext>
            </a:extLst>
          </p:cNvPr>
          <p:cNvGrpSpPr/>
          <p:nvPr/>
        </p:nvGrpSpPr>
        <p:grpSpPr>
          <a:xfrm>
            <a:off x="1322283" y="1806448"/>
            <a:ext cx="4284980" cy="5630672"/>
            <a:chOff x="1779868" y="2240280"/>
            <a:chExt cx="3298264" cy="4892040"/>
          </a:xfrm>
        </p:grpSpPr>
        <p:sp>
          <p:nvSpPr>
            <p:cNvPr id="6" name="Shape 4"/>
            <p:cNvSpPr/>
            <p:nvPr/>
          </p:nvSpPr>
          <p:spPr>
            <a:xfrm>
              <a:off x="1779868" y="2240280"/>
              <a:ext cx="3298264" cy="4892040"/>
            </a:xfrm>
            <a:prstGeom prst="roundRect">
              <a:avLst>
                <a:gd name="adj" fmla="val 3327"/>
              </a:avLst>
            </a:prstGeom>
            <a:solidFill>
              <a:srgbClr val="163327"/>
            </a:solidFill>
            <a:ln/>
            <a:effectLst>
              <a:outerShdw blurRad="101600" dist="38100" dir="27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en-001"/>
            </a:p>
          </p:txBody>
        </p:sp>
        <p:pic>
          <p:nvPicPr>
            <p:cNvPr id="7" name="Image 0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1853020" y="2331720"/>
              <a:ext cx="3151960" cy="4754880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B9FBDF6-E429-22E4-DF05-342F3CE95EAA}"/>
              </a:ext>
            </a:extLst>
          </p:cNvPr>
          <p:cNvGrpSpPr/>
          <p:nvPr/>
        </p:nvGrpSpPr>
        <p:grpSpPr>
          <a:xfrm>
            <a:off x="320040" y="7506208"/>
            <a:ext cx="6217920" cy="502920"/>
            <a:chOff x="320040" y="7178040"/>
            <a:chExt cx="6217920" cy="502920"/>
          </a:xfrm>
        </p:grpSpPr>
        <p:sp>
          <p:nvSpPr>
            <p:cNvPr id="8" name="Shape 5"/>
            <p:cNvSpPr/>
            <p:nvPr/>
          </p:nvSpPr>
          <p:spPr>
            <a:xfrm>
              <a:off x="320040" y="7178040"/>
              <a:ext cx="6217920" cy="502920"/>
            </a:xfrm>
            <a:prstGeom prst="roundRect">
              <a:avLst>
                <a:gd name="adj" fmla="val 18182"/>
              </a:avLst>
            </a:prstGeom>
            <a:solidFill>
              <a:srgbClr val="FF6B6B">
                <a:alpha val="20000"/>
              </a:srgbClr>
            </a:solidFill>
            <a:ln/>
          </p:spPr>
          <p:txBody>
            <a:bodyPr/>
            <a:lstStyle/>
            <a:p>
              <a:endParaRPr lang="en-001"/>
            </a:p>
          </p:txBody>
        </p:sp>
        <p:sp>
          <p:nvSpPr>
            <p:cNvPr id="9" name="Text 6"/>
            <p:cNvSpPr/>
            <p:nvPr/>
          </p:nvSpPr>
          <p:spPr>
            <a:xfrm>
              <a:off x="457200" y="7205472"/>
              <a:ext cx="5943600" cy="4480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i="1" dirty="0">
                  <a:solidFill>
                    <a:srgbClr val="FAFAF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 </a:t>
              </a:r>
              <a:r>
                <a:rPr lang="en-US" sz="1400" i="1" dirty="0">
                  <a:solidFill>
                    <a:srgbClr val="FFD7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Rangpur Central Road Store: 7.25 days avg, worst in the entire network.</a:t>
              </a:r>
              <a:endParaRPr lang="en-US" sz="1400" dirty="0">
                <a:solidFill>
                  <a:srgbClr val="FFD700"/>
                </a:solidFill>
              </a:endParaRPr>
            </a:p>
          </p:txBody>
        </p:sp>
      </p:grpSp>
      <p:sp>
        <p:nvSpPr>
          <p:cNvPr id="10" name="Shape 7"/>
          <p:cNvSpPr/>
          <p:nvPr/>
        </p:nvSpPr>
        <p:spPr>
          <a:xfrm>
            <a:off x="0" y="8202168"/>
            <a:ext cx="6858000" cy="365760"/>
          </a:xfrm>
          <a:prstGeom prst="rect">
            <a:avLst/>
          </a:prstGeom>
          <a:solidFill>
            <a:srgbClr val="0D2B22"/>
          </a:solidFill>
          <a:ln w="12700">
            <a:solidFill>
              <a:srgbClr val="0D2B22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1" name="Text 8"/>
          <p:cNvSpPr/>
          <p:nvPr/>
        </p:nvSpPr>
        <p:spPr>
          <a:xfrm>
            <a:off x="182880" y="820216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3E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at the bigger operational picture... ➡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A3E2C9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E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OF 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6217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Performers &amp;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Contributions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572768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tracked top salesperson performance and contrasted our top 5 vs bottom 5 stores to identify strategies that can be replicated company-wide.</a:t>
            </a:r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6FE3F34-D680-871E-38CE-F1BB7A629BE4}"/>
              </a:ext>
            </a:extLst>
          </p:cNvPr>
          <p:cNvGrpSpPr/>
          <p:nvPr/>
        </p:nvGrpSpPr>
        <p:grpSpPr>
          <a:xfrm>
            <a:off x="204470" y="2468880"/>
            <a:ext cx="6449060" cy="5554980"/>
            <a:chOff x="320040" y="2377440"/>
            <a:chExt cx="6217920" cy="4434430"/>
          </a:xfrm>
        </p:grpSpPr>
        <p:sp>
          <p:nvSpPr>
            <p:cNvPr id="6" name="Shape 4"/>
            <p:cNvSpPr/>
            <p:nvPr/>
          </p:nvSpPr>
          <p:spPr>
            <a:xfrm>
              <a:off x="320040" y="2377440"/>
              <a:ext cx="6217920" cy="1594485"/>
            </a:xfrm>
            <a:prstGeom prst="roundRect">
              <a:avLst>
                <a:gd name="adj" fmla="val 6882"/>
              </a:avLst>
            </a:prstGeom>
            <a:solidFill>
              <a:srgbClr val="163327"/>
            </a:solidFill>
            <a:ln/>
            <a:effectLst>
              <a:outerShdw blurRad="101600" dist="38100" dir="27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en-001"/>
            </a:p>
          </p:txBody>
        </p:sp>
        <p:pic>
          <p:nvPicPr>
            <p:cNvPr id="7" name="Image 0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393192" y="2468880"/>
              <a:ext cx="6071616" cy="1411605"/>
            </a:xfrm>
            <a:prstGeom prst="rect">
              <a:avLst/>
            </a:prstGeom>
          </p:spPr>
        </p:pic>
        <p:sp>
          <p:nvSpPr>
            <p:cNvPr id="8" name="Shape 5"/>
            <p:cNvSpPr/>
            <p:nvPr/>
          </p:nvSpPr>
          <p:spPr>
            <a:xfrm>
              <a:off x="320040" y="4109085"/>
              <a:ext cx="6217920" cy="2702785"/>
            </a:xfrm>
            <a:prstGeom prst="roundRect">
              <a:avLst>
                <a:gd name="adj" fmla="val 4060"/>
              </a:avLst>
            </a:prstGeom>
            <a:solidFill>
              <a:srgbClr val="163327"/>
            </a:solidFill>
            <a:ln/>
            <a:effectLst>
              <a:outerShdw blurRad="101600" dist="38100" dir="27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en-001"/>
            </a:p>
          </p:txBody>
        </p:sp>
        <p:pic>
          <p:nvPicPr>
            <p:cNvPr id="9" name="Image 1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393192" y="4200525"/>
              <a:ext cx="6071616" cy="2519905"/>
            </a:xfrm>
            <a:prstGeom prst="rect">
              <a:avLst/>
            </a:prstGeom>
          </p:spPr>
        </p:pic>
      </p:grpSp>
      <p:sp>
        <p:nvSpPr>
          <p:cNvPr id="10" name="Shape 6"/>
          <p:cNvSpPr/>
          <p:nvPr/>
        </p:nvSpPr>
        <p:spPr>
          <a:xfrm>
            <a:off x="0" y="8202168"/>
            <a:ext cx="6858000" cy="365760"/>
          </a:xfrm>
          <a:prstGeom prst="rect">
            <a:avLst/>
          </a:prstGeom>
          <a:solidFill>
            <a:srgbClr val="0D2B22"/>
          </a:solidFill>
          <a:ln w="12700">
            <a:solidFill>
              <a:srgbClr val="0D2B22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1" name="Text 7"/>
          <p:cNvSpPr/>
          <p:nvPr/>
        </p:nvSpPr>
        <p:spPr>
          <a:xfrm>
            <a:off x="182880" y="820216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3E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recommendations for management... ➡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5029200"/>
            <a:ext cx="6400800" cy="6400800"/>
          </a:xfrm>
          <a:prstGeom prst="ellipse">
            <a:avLst/>
          </a:prstGeom>
          <a:solidFill>
            <a:srgbClr val="112920"/>
          </a:solidFill>
          <a:ln w="12700">
            <a:solidFill>
              <a:srgbClr val="112920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4" name="Shape 6">
            <a:extLst>
              <a:ext uri="{FF2B5EF4-FFF2-40B4-BE49-F238E27FC236}">
                <a16:creationId xmlns:a16="http://schemas.microsoft.com/office/drawing/2014/main" id="{963929FA-02DC-E50D-E702-7EA7BE78ABFB}"/>
              </a:ext>
            </a:extLst>
          </p:cNvPr>
          <p:cNvSpPr/>
          <p:nvPr/>
        </p:nvSpPr>
        <p:spPr>
          <a:xfrm>
            <a:off x="-685800" y="5559552"/>
            <a:ext cx="5029200" cy="5029200"/>
          </a:xfrm>
          <a:prstGeom prst="ellipse">
            <a:avLst/>
          </a:prstGeom>
          <a:solidFill>
            <a:srgbClr val="112920"/>
          </a:solidFill>
          <a:ln w="12700">
            <a:solidFill>
              <a:srgbClr val="A3E2C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" name="Shape 1"/>
          <p:cNvSpPr/>
          <p:nvPr/>
        </p:nvSpPr>
        <p:spPr>
          <a:xfrm>
            <a:off x="320040" y="228600"/>
            <a:ext cx="2011680" cy="256032"/>
          </a:xfrm>
          <a:prstGeom prst="roundRect">
            <a:avLst>
              <a:gd name="adj" fmla="val 21429"/>
            </a:avLst>
          </a:prstGeom>
          <a:solidFill>
            <a:srgbClr val="A3E2C9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4" name="Text 2"/>
          <p:cNvSpPr/>
          <p:nvPr/>
        </p:nvSpPr>
        <p:spPr>
          <a:xfrm>
            <a:off x="320040" y="228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E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OF 8  •  CONCLUSION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6217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" y="1920240"/>
            <a:ext cx="6217920" cy="1737360"/>
          </a:xfrm>
          <a:prstGeom prst="roundRect">
            <a:avLst>
              <a:gd name="adj" fmla="val 7895"/>
            </a:avLst>
          </a:prstGeom>
          <a:solidFill>
            <a:srgbClr val="163327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sp>
        <p:nvSpPr>
          <p:cNvPr id="7" name="Shape 5"/>
          <p:cNvSpPr/>
          <p:nvPr/>
        </p:nvSpPr>
        <p:spPr>
          <a:xfrm>
            <a:off x="502920" y="2485136"/>
            <a:ext cx="457200" cy="457200"/>
          </a:xfrm>
          <a:prstGeom prst="ellipse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8" name="Text 6"/>
          <p:cNvSpPr/>
          <p:nvPr/>
        </p:nvSpPr>
        <p:spPr>
          <a:xfrm>
            <a:off x="502920" y="254203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1488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Rangpur's Supply Chain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260096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audit logistics &amp; delivery manpower. The 6.43-day avg must be cut to under 4 days to recover customer trust.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0040" y="3840480"/>
            <a:ext cx="6217920" cy="1737360"/>
          </a:xfrm>
          <a:prstGeom prst="roundRect">
            <a:avLst>
              <a:gd name="adj" fmla="val 7895"/>
            </a:avLst>
          </a:prstGeom>
          <a:solidFill>
            <a:srgbClr val="163327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sp>
        <p:nvSpPr>
          <p:cNvPr id="12" name="Shape 10"/>
          <p:cNvSpPr/>
          <p:nvPr/>
        </p:nvSpPr>
        <p:spPr>
          <a:xfrm>
            <a:off x="480060" y="4459732"/>
            <a:ext cx="457200" cy="457200"/>
          </a:xfrm>
          <a:prstGeom prst="ellipse">
            <a:avLst/>
          </a:prstGeom>
          <a:solidFill>
            <a:srgbClr val="FFD700">
              <a:alpha val="80000"/>
            </a:srgbClr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3" name="Text 11"/>
          <p:cNvSpPr/>
          <p:nvPr/>
        </p:nvSpPr>
        <p:spPr>
          <a:xfrm>
            <a:off x="502920" y="446227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28700" y="4161536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Into Central Road Store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28700" y="4378706"/>
            <a:ext cx="5440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7.25 days, Central Road Store is the single biggest drag. Audit stock availability, last-mile capacity, and staffing.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20040" y="5760720"/>
            <a:ext cx="6217920" cy="1737360"/>
          </a:xfrm>
          <a:prstGeom prst="roundRect">
            <a:avLst>
              <a:gd name="adj" fmla="val 7895"/>
            </a:avLst>
          </a:prstGeom>
          <a:solidFill>
            <a:srgbClr val="163327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sp>
        <p:nvSpPr>
          <p:cNvPr id="17" name="Shape 15"/>
          <p:cNvSpPr/>
          <p:nvPr/>
        </p:nvSpPr>
        <p:spPr>
          <a:xfrm>
            <a:off x="502920" y="6347968"/>
            <a:ext cx="457200" cy="457200"/>
          </a:xfrm>
          <a:prstGeom prst="ellipse">
            <a:avLst/>
          </a:prstGeom>
          <a:solidFill>
            <a:srgbClr val="A3E2C9">
              <a:alpha val="80000"/>
            </a:srgbClr>
          </a:solidFill>
          <a:ln w="12700">
            <a:solidFill>
              <a:srgbClr val="A3E2C9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8" name="Text 16"/>
          <p:cNvSpPr/>
          <p:nvPr/>
        </p:nvSpPr>
        <p:spPr>
          <a:xfrm>
            <a:off x="502920" y="638251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604824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3E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Dhaka's Fast-Fulfillment Model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97280" y="6341618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2.97 days and 94.34% target achievement, Dhaka's playbook, processes, partners, staffing ratios should be documented and rolled out nationally.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0" y="8202168"/>
            <a:ext cx="6858000" cy="365760"/>
          </a:xfrm>
          <a:prstGeom prst="rect">
            <a:avLst/>
          </a:prstGeom>
          <a:solidFill>
            <a:srgbClr val="0D2B22"/>
          </a:solidFill>
          <a:ln w="12700">
            <a:solidFill>
              <a:srgbClr val="0D2B22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2" name="Text 20"/>
          <p:cNvSpPr/>
          <p:nvPr/>
        </p:nvSpPr>
        <p:spPr>
          <a:xfrm>
            <a:off x="182880" y="820216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3E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Rows to Results: My Data Analytics Journey  |  Thank you for reading!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519</Words>
  <Application>Microsoft Office PowerPoint</Application>
  <PresentationFormat>Custom</PresentationFormat>
  <Paragraphs>74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Rows to Results: Retail Analytics Story</dc:title>
  <dc:subject>PptxGenJS Presentation</dc:subject>
  <dc:creator>Data Analytics</dc:creator>
  <cp:lastModifiedBy>Dipan Nandi</cp:lastModifiedBy>
  <cp:revision>2</cp:revision>
  <dcterms:created xsi:type="dcterms:W3CDTF">2026-06-26T20:51:41Z</dcterms:created>
  <dcterms:modified xsi:type="dcterms:W3CDTF">2026-06-26T21:31:49Z</dcterms:modified>
</cp:coreProperties>
</file>