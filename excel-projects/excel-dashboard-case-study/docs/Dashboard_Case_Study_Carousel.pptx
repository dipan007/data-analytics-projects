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01250" cy="12858750"/>
  <p:notesSz cx="12858750" cy="100012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CAE0"/>
    <a:srgbClr val="E42E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24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199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8629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ANALYTICS CASE STUDY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2148840"/>
            <a:ext cx="862965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Raw Spreadsheets to</a:t>
            </a:r>
            <a:endParaRPr lang="en-US" sz="48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Insights 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527048" y="4766310"/>
            <a:ext cx="7251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 built an interactive Excel Dashboard to solve a retail operational crisis.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83405" y="6903720"/>
            <a:ext cx="1234440" cy="1234440"/>
          </a:xfrm>
          <a:prstGeom prst="ellipse">
            <a:avLst/>
          </a:prstGeom>
          <a:solidFill>
            <a:srgbClr val="222A2C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6" name="Image 0" descr="icons/ta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48" y="7249363"/>
            <a:ext cx="543154" cy="543154"/>
          </a:xfrm>
          <a:prstGeom prst="rect">
            <a:avLst/>
          </a:prstGeom>
        </p:spPr>
      </p:pic>
      <p:pic>
        <p:nvPicPr>
          <p:cNvPr id="7" name="Image 1" descr="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593" y="8394192"/>
            <a:ext cx="512064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83405" y="9189720"/>
            <a:ext cx="1234440" cy="1234440"/>
          </a:xfrm>
          <a:prstGeom prst="ellipse">
            <a:avLst/>
          </a:prstGeom>
          <a:solidFill>
            <a:srgbClr val="222A2C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9" name="Image 2" descr="icons/char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048" y="9535363"/>
            <a:ext cx="543154" cy="5431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03770" y="12161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Swipe Left </a:t>
            </a:r>
            <a:endParaRPr lang="en-US" sz="13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905112-DFC3-E17D-7C48-A3E48D22AB07}"/>
              </a:ext>
            </a:extLst>
          </p:cNvPr>
          <p:cNvCxnSpPr/>
          <p:nvPr/>
        </p:nvCxnSpPr>
        <p:spPr>
          <a:xfrm>
            <a:off x="9363075" y="12344400"/>
            <a:ext cx="323850" cy="0"/>
          </a:xfrm>
          <a:prstGeom prst="straightConnector1">
            <a:avLst/>
          </a:prstGeom>
          <a:ln w="57150">
            <a:solidFill>
              <a:srgbClr val="04CA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3200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222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86296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Visualizing the Big Picture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799" y="2468880"/>
            <a:ext cx="87521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Instead of hunting through thousands of sales rows, executives can now monitor overall business health through dynamic KPI cards and timeline slicers.</a:t>
            </a:r>
            <a:endParaRPr lang="en-US" dirty="0"/>
          </a:p>
        </p:txBody>
      </p:sp>
      <p:pic>
        <p:nvPicPr>
          <p:cNvPr id="5" name="Image 0" descr="sc7_full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8629650" cy="5156650"/>
          </a:xfrm>
          <a:prstGeom prst="rect">
            <a:avLst/>
          </a:prstGeom>
          <a:effectLst>
            <a:outerShdw blurRad="254000" dist="1143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85800" y="9642065"/>
            <a:ext cx="2693670" cy="1828800"/>
          </a:xfrm>
          <a:prstGeom prst="roundRect">
            <a:avLst>
              <a:gd name="adj" fmla="val 6000"/>
            </a:avLst>
          </a:prstGeom>
          <a:solidFill>
            <a:srgbClr val="202426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7" name="Text 4"/>
          <p:cNvSpPr/>
          <p:nvPr/>
        </p:nvSpPr>
        <p:spPr>
          <a:xfrm>
            <a:off x="685800" y="9573202"/>
            <a:ext cx="26936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E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10717378"/>
            <a:ext cx="25107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3790" y="9642065"/>
            <a:ext cx="2693670" cy="1828800"/>
          </a:xfrm>
          <a:prstGeom prst="roundRect">
            <a:avLst>
              <a:gd name="adj" fmla="val 6000"/>
            </a:avLst>
          </a:prstGeom>
          <a:solidFill>
            <a:srgbClr val="202426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0" name="Text 7"/>
          <p:cNvSpPr/>
          <p:nvPr/>
        </p:nvSpPr>
        <p:spPr>
          <a:xfrm>
            <a:off x="3653790" y="9573202"/>
            <a:ext cx="26936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E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10.4M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806461" y="10734490"/>
            <a:ext cx="25107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SALES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33210" y="9642065"/>
            <a:ext cx="2693670" cy="1828800"/>
          </a:xfrm>
          <a:prstGeom prst="roundRect">
            <a:avLst>
              <a:gd name="adj" fmla="val 6000"/>
            </a:avLst>
          </a:prstGeom>
          <a:solidFill>
            <a:srgbClr val="202426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3" name="Text 10"/>
          <p:cNvSpPr/>
          <p:nvPr/>
        </p:nvSpPr>
        <p:spPr>
          <a:xfrm>
            <a:off x="6621780" y="9573202"/>
            <a:ext cx="26936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E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90.99%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724650" y="10717378"/>
            <a:ext cx="25107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ACHIEVED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3200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222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85800" y="1947672"/>
            <a:ext cx="86296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Regional vs. Target Sales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862072"/>
            <a:ext cx="86296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clustered column charts with target indicators, we can instantly spot which regions are hitting goals. While </a:t>
            </a:r>
            <a:r>
              <a:rPr lang="en-US" b="1" dirty="0">
                <a:solidFill>
                  <a:schemeClr val="accent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Barishal leads</a:t>
            </a: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total volume, </a:t>
            </a:r>
            <a:r>
              <a:rPr lang="en-US" b="1" dirty="0">
                <a:solidFill>
                  <a:srgbClr val="E42E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Rangpur clearly falls short</a:t>
            </a: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its target line.</a:t>
            </a:r>
            <a:endParaRPr lang="en-US" dirty="0"/>
          </a:p>
        </p:txBody>
      </p:sp>
      <p:pic>
        <p:nvPicPr>
          <p:cNvPr id="5" name="Image 0" descr="sc7_chart_table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70832"/>
            <a:ext cx="8629650" cy="3654200"/>
          </a:xfrm>
          <a:prstGeom prst="rect">
            <a:avLst/>
          </a:prstGeom>
          <a:effectLst>
            <a:outerShdw blurRad="254000" dist="1143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85800" y="8482232"/>
            <a:ext cx="4131945" cy="2377440"/>
          </a:xfrm>
          <a:prstGeom prst="roundRect">
            <a:avLst>
              <a:gd name="adj" fmla="val 4615"/>
            </a:avLst>
          </a:prstGeom>
          <a:solidFill>
            <a:srgbClr val="202426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7" name="Text 4"/>
          <p:cNvSpPr/>
          <p:nvPr/>
        </p:nvSpPr>
        <p:spPr>
          <a:xfrm>
            <a:off x="960120" y="8738264"/>
            <a:ext cx="35833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PERFORMER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60119" y="9076592"/>
            <a:ext cx="35833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Barishal</a:t>
            </a:r>
            <a:endParaRPr lang="en-US" sz="2700" dirty="0">
              <a:solidFill>
                <a:schemeClr val="accent6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60118" y="10055083"/>
            <a:ext cx="3583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1.5M sales · Rank #1 · 89.29% of target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5183505" y="8482232"/>
            <a:ext cx="4131945" cy="2377440"/>
          </a:xfrm>
          <a:prstGeom prst="roundRect">
            <a:avLst>
              <a:gd name="adj" fmla="val 4615"/>
            </a:avLst>
          </a:prstGeom>
          <a:solidFill>
            <a:srgbClr val="202426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1" name="Text 8"/>
          <p:cNvSpPr/>
          <p:nvPr/>
        </p:nvSpPr>
        <p:spPr>
          <a:xfrm>
            <a:off x="5457825" y="8738264"/>
            <a:ext cx="35833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A9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NEEDS ATTENTION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57824" y="9076592"/>
            <a:ext cx="35833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42E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Rangpur</a:t>
            </a:r>
            <a:endParaRPr lang="en-US" sz="2700" dirty="0">
              <a:solidFill>
                <a:srgbClr val="E42E0A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57823" y="10045856"/>
            <a:ext cx="3583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1.2M sales · Rank #6 · 86.96% of target</a:t>
            </a:r>
            <a:endParaRPr lang="en-US" sz="15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3200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222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85800" y="1545336"/>
            <a:ext cx="86296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Connecting Delivery Delays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Low Ratings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871216"/>
            <a:ext cx="86296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Switch to our operations view. By aligning average delivery days with customer sentiment metrics, the connection is obvious: </a:t>
            </a:r>
            <a:r>
              <a:rPr lang="en-US" b="1" dirty="0">
                <a:solidFill>
                  <a:srgbClr val="E42E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Rangpur's</a:t>
            </a: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massive </a:t>
            </a:r>
            <a:r>
              <a:rPr lang="en-US" b="1" dirty="0">
                <a:solidFill>
                  <a:srgbClr val="E42E0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 delay </a:t>
            </a: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directly drives its high volume of poor customer scores.</a:t>
            </a:r>
            <a:endParaRPr lang="en-US" dirty="0"/>
          </a:p>
        </p:txBody>
      </p:sp>
      <p:pic>
        <p:nvPicPr>
          <p:cNvPr id="5" name="Image 0" descr="sc8_full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62856"/>
            <a:ext cx="8629650" cy="5378026"/>
          </a:xfrm>
          <a:prstGeom prst="rect">
            <a:avLst/>
          </a:prstGeom>
          <a:effectLst>
            <a:outerShdw blurRad="254000" dist="1143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85800" y="10398082"/>
            <a:ext cx="8629650" cy="1463040"/>
          </a:xfrm>
          <a:prstGeom prst="roundRect">
            <a:avLst>
              <a:gd name="adj" fmla="val 7500"/>
            </a:avLst>
          </a:prstGeom>
          <a:solidFill>
            <a:srgbClr val="202426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7" name="Shape 4"/>
          <p:cNvSpPr/>
          <p:nvPr/>
        </p:nvSpPr>
        <p:spPr>
          <a:xfrm>
            <a:off x="1005840" y="10718122"/>
            <a:ext cx="822960" cy="822960"/>
          </a:xfrm>
          <a:prstGeom prst="ellipse">
            <a:avLst/>
          </a:prstGeom>
          <a:solidFill>
            <a:srgbClr val="222A2C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8" name="Image 1" descr="icons/tru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269" y="10948551"/>
            <a:ext cx="362102" cy="362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9229" y="10674231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6.43 DAYS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2059229" y="11013473"/>
            <a:ext cx="6892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Rangpur's avg. delivery time, highest in the network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3200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222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85800" y="1307592"/>
            <a:ext cx="86296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Salesperson Performance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724912"/>
            <a:ext cx="86296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data-driven business needs to recognize its growth drivers. Our operations board tracks individual sales contributions to help management replicate the strategies of top performers across other stores.</a:t>
            </a:r>
            <a:endParaRPr lang="en-US" dirty="0"/>
          </a:p>
        </p:txBody>
      </p:sp>
      <p:pic>
        <p:nvPicPr>
          <p:cNvPr id="5" name="Image 0" descr="sc8_salesperson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087" y="4325112"/>
            <a:ext cx="5665076" cy="6400800"/>
          </a:xfrm>
          <a:prstGeom prst="rect">
            <a:avLst/>
          </a:prstGeom>
          <a:effectLst>
            <a:outerShdw blurRad="254000" dist="1143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85800" y="11183112"/>
            <a:ext cx="8629650" cy="914400"/>
          </a:xfrm>
          <a:prstGeom prst="roundRect">
            <a:avLst>
              <a:gd name="adj" fmla="val 12000"/>
            </a:avLst>
          </a:prstGeom>
          <a:solidFill>
            <a:srgbClr val="202426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7" name="Shape 4"/>
          <p:cNvSpPr/>
          <p:nvPr/>
        </p:nvSpPr>
        <p:spPr>
          <a:xfrm>
            <a:off x="914400" y="11388852"/>
            <a:ext cx="502920" cy="502920"/>
          </a:xfrm>
          <a:prstGeom prst="ellipse">
            <a:avLst/>
          </a:prstGeom>
          <a:solidFill>
            <a:srgbClr val="222A2C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8" name="Image 1" descr="icons/userti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8" y="11529670"/>
            <a:ext cx="221285" cy="2212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1183112"/>
            <a:ext cx="7440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E5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Performer:  </a:t>
            </a: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Rasel Uddin</a:t>
            </a: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- 358.7K in sales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3200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222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85800" y="1709928"/>
            <a:ext cx="86296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Behind-the-Scenes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4370" y="3035808"/>
            <a:ext cx="86296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clean dashboard requires a powerful back-end engine. This is where the heavy lifting happens: automated pivot tables, calculated items, conditional formatting alerts, and database links.</a:t>
            </a:r>
            <a:endParaRPr lang="en-US" dirty="0"/>
          </a:p>
        </p:txBody>
      </p:sp>
      <p:pic>
        <p:nvPicPr>
          <p:cNvPr id="5" name="Image 0" descr="sc9_full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36008"/>
            <a:ext cx="8629650" cy="3933958"/>
          </a:xfrm>
          <a:prstGeom prst="rect">
            <a:avLst/>
          </a:prstGeom>
          <a:effectLst>
            <a:outerShdw blurRad="254000" dist="114300" dir="5400000" algn="bl" rotWithShape="0">
              <a:srgbClr val="000000">
                <a:alpha val="40000"/>
              </a:srgbClr>
            </a:outerShdw>
          </a:effec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13FE0D9-76E4-B823-E5D5-8E1E90DD1F7A}"/>
              </a:ext>
            </a:extLst>
          </p:cNvPr>
          <p:cNvGrpSpPr/>
          <p:nvPr/>
        </p:nvGrpSpPr>
        <p:grpSpPr>
          <a:xfrm>
            <a:off x="1126925" y="9095747"/>
            <a:ext cx="4131945" cy="1075334"/>
            <a:chOff x="685800" y="9027166"/>
            <a:chExt cx="4131945" cy="1075334"/>
          </a:xfrm>
        </p:grpSpPr>
        <p:sp>
          <p:nvSpPr>
            <p:cNvPr id="6" name="Shape 3"/>
            <p:cNvSpPr/>
            <p:nvPr/>
          </p:nvSpPr>
          <p:spPr>
            <a:xfrm>
              <a:off x="685800" y="9255766"/>
              <a:ext cx="640080" cy="640080"/>
            </a:xfrm>
            <a:prstGeom prst="ellipse">
              <a:avLst/>
            </a:prstGeom>
            <a:solidFill>
              <a:srgbClr val="222A2C"/>
            </a:solidFill>
            <a:ln w="12700">
              <a:solidFill>
                <a:srgbClr val="00E5FF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pic>
          <p:nvPicPr>
            <p:cNvPr id="7" name="Image 1" descr="icons/database_tea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5022" y="9434988"/>
              <a:ext cx="281635" cy="281635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1645920" y="9027166"/>
              <a:ext cx="3171825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Pivot Tables</a:t>
              </a:r>
              <a:endParaRPr lang="en-US" sz="19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1645920" y="9553860"/>
              <a:ext cx="3171825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350" dirty="0">
                  <a:solidFill>
                    <a:srgbClr val="DCE2E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Automated multi-dimensional summaries</a:t>
              </a:r>
              <a:endParaRPr lang="en-US" sz="13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C639154-DF2F-AA4A-2244-CA6F406B77C1}"/>
              </a:ext>
            </a:extLst>
          </p:cNvPr>
          <p:cNvGrpSpPr/>
          <p:nvPr/>
        </p:nvGrpSpPr>
        <p:grpSpPr>
          <a:xfrm>
            <a:off x="5362727" y="9084774"/>
            <a:ext cx="4131945" cy="1075334"/>
            <a:chOff x="5183505" y="9027166"/>
            <a:chExt cx="4131945" cy="1075334"/>
          </a:xfrm>
        </p:grpSpPr>
        <p:sp>
          <p:nvSpPr>
            <p:cNvPr id="12" name="Text 7"/>
            <p:cNvSpPr/>
            <p:nvPr/>
          </p:nvSpPr>
          <p:spPr>
            <a:xfrm>
              <a:off x="6143625" y="9027166"/>
              <a:ext cx="3171825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Calculated Items</a:t>
              </a:r>
              <a:endParaRPr lang="en-US" sz="190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9CEC49B-3F92-4041-9462-7DDD8E4CF1AC}"/>
                </a:ext>
              </a:extLst>
            </p:cNvPr>
            <p:cNvGrpSpPr/>
            <p:nvPr/>
          </p:nvGrpSpPr>
          <p:grpSpPr>
            <a:xfrm>
              <a:off x="5183505" y="9255766"/>
              <a:ext cx="4131945" cy="846734"/>
              <a:chOff x="5183505" y="9255766"/>
              <a:chExt cx="4131945" cy="846734"/>
            </a:xfrm>
          </p:grpSpPr>
          <p:sp>
            <p:nvSpPr>
              <p:cNvPr id="10" name="Shape 6"/>
              <p:cNvSpPr/>
              <p:nvPr/>
            </p:nvSpPr>
            <p:spPr>
              <a:xfrm>
                <a:off x="5183505" y="9255766"/>
                <a:ext cx="640080" cy="640080"/>
              </a:xfrm>
              <a:prstGeom prst="ellipse">
                <a:avLst/>
              </a:prstGeom>
              <a:solidFill>
                <a:srgbClr val="222A2C"/>
              </a:solidFill>
              <a:ln w="12700">
                <a:solidFill>
                  <a:srgbClr val="00E5FF"/>
                </a:solidFill>
                <a:prstDash val="solid"/>
              </a:ln>
            </p:spPr>
            <p:txBody>
              <a:bodyPr/>
              <a:lstStyle/>
              <a:p>
                <a:endParaRPr lang="en-001"/>
              </a:p>
            </p:txBody>
          </p:sp>
          <p:pic>
            <p:nvPicPr>
              <p:cNvPr id="11" name="Image 2" descr="icons/calculator_teal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62727" y="9434988"/>
                <a:ext cx="281635" cy="281635"/>
              </a:xfrm>
              <a:prstGeom prst="rect">
                <a:avLst/>
              </a:prstGeom>
            </p:spPr>
          </p:pic>
          <p:sp>
            <p:nvSpPr>
              <p:cNvPr id="13" name="Text 8"/>
              <p:cNvSpPr/>
              <p:nvPr/>
            </p:nvSpPr>
            <p:spPr>
              <a:xfrm>
                <a:off x="6143625" y="9553860"/>
                <a:ext cx="3171825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:r>
                  <a:rPr lang="en-US" sz="1350" dirty="0">
                    <a:solidFill>
                      <a:srgbClr val="DCE2E6"/>
                    </a:solidFill>
                    <a:latin typeface="Open Sans" pitchFamily="34" charset="0"/>
                    <a:ea typeface="Open Sans" pitchFamily="34" charset="-122"/>
                    <a:cs typeface="Open Sans" pitchFamily="34" charset="-120"/>
                  </a:rPr>
                  <a:t>Custom KPI formulas &amp; metrics</a:t>
                </a:r>
                <a:endParaRPr lang="en-US" sz="1350" dirty="0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F5CFD4-77E1-964F-FE6C-12CE83B8C95E}"/>
              </a:ext>
            </a:extLst>
          </p:cNvPr>
          <p:cNvGrpSpPr/>
          <p:nvPr/>
        </p:nvGrpSpPr>
        <p:grpSpPr>
          <a:xfrm>
            <a:off x="2751772" y="10446315"/>
            <a:ext cx="4131945" cy="1075334"/>
            <a:chOff x="685800" y="10490206"/>
            <a:chExt cx="4131945" cy="1075334"/>
          </a:xfrm>
        </p:grpSpPr>
        <p:sp>
          <p:nvSpPr>
            <p:cNvPr id="14" name="Shape 9"/>
            <p:cNvSpPr/>
            <p:nvPr/>
          </p:nvSpPr>
          <p:spPr>
            <a:xfrm>
              <a:off x="685800" y="10718806"/>
              <a:ext cx="640080" cy="640080"/>
            </a:xfrm>
            <a:prstGeom prst="ellipse">
              <a:avLst/>
            </a:prstGeom>
            <a:solidFill>
              <a:srgbClr val="222A2C"/>
            </a:solidFill>
            <a:ln w="12700">
              <a:solidFill>
                <a:srgbClr val="00E5FF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pic>
          <p:nvPicPr>
            <p:cNvPr id="15" name="Image 3" descr="icons/warning_teal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5022" y="10898028"/>
              <a:ext cx="281635" cy="281635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1645920" y="10490206"/>
              <a:ext cx="3171825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Conditional Formatting</a:t>
              </a:r>
              <a:endParaRPr lang="en-US" sz="190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1645920" y="11016900"/>
              <a:ext cx="3171825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350" dirty="0">
                  <a:solidFill>
                    <a:srgbClr val="DCE2E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Visual alerts for target misses</a:t>
              </a:r>
              <a:endParaRPr lang="en-US" sz="13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3200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222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85800" y="2761163"/>
            <a:ext cx="86296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True Dashboard Thinking 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4365729"/>
            <a:ext cx="1054718" cy="1078943"/>
          </a:xfrm>
          <a:prstGeom prst="ellipse">
            <a:avLst/>
          </a:prstGeom>
          <a:solidFill>
            <a:srgbClr val="222A2C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5" name="Image 0" descr="icons/char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21" y="4667834"/>
            <a:ext cx="464075" cy="4747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50686" y="3886199"/>
            <a:ext cx="9595000" cy="917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Clarity over Complexity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150686" y="4864440"/>
            <a:ext cx="9595000" cy="1019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layouts guide managers to answers, not more questions.</a:t>
            </a:r>
            <a:endParaRPr lang="en-US" sz="13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F91711-DBFA-582A-EFA6-C705F809C3DE}"/>
              </a:ext>
            </a:extLst>
          </p:cNvPr>
          <p:cNvGrpSpPr/>
          <p:nvPr/>
        </p:nvGrpSpPr>
        <p:grpSpPr>
          <a:xfrm>
            <a:off x="685800" y="5782232"/>
            <a:ext cx="11059886" cy="1997244"/>
            <a:chOff x="685800" y="6343792"/>
            <a:chExt cx="11059886" cy="1997244"/>
          </a:xfrm>
        </p:grpSpPr>
        <p:sp>
          <p:nvSpPr>
            <p:cNvPr id="8" name="Shape 5"/>
            <p:cNvSpPr/>
            <p:nvPr/>
          </p:nvSpPr>
          <p:spPr>
            <a:xfrm>
              <a:off x="685800" y="6823323"/>
              <a:ext cx="1054718" cy="1078943"/>
            </a:xfrm>
            <a:prstGeom prst="ellipse">
              <a:avLst/>
            </a:prstGeom>
            <a:solidFill>
              <a:srgbClr val="222A2C"/>
            </a:solidFill>
            <a:ln w="12700">
              <a:solidFill>
                <a:srgbClr val="00E5FF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pic>
          <p:nvPicPr>
            <p:cNvPr id="9" name="Image 1" descr="icons/bolt_tea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1121" y="7125427"/>
              <a:ext cx="464075" cy="474735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2150686" y="6343792"/>
              <a:ext cx="9595000" cy="917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Interactive Speed</a:t>
              </a:r>
              <a:endParaRPr lang="en-US" sz="19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2150686" y="7322034"/>
              <a:ext cx="9595000" cy="1019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350" dirty="0">
                  <a:solidFill>
                    <a:srgbClr val="DCE2E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Slicers change data views instantly for agile decisions.</a:t>
              </a:r>
              <a:endParaRPr lang="en-US" sz="13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B65DC1-D66C-304A-5C95-4A76997AF509}"/>
              </a:ext>
            </a:extLst>
          </p:cNvPr>
          <p:cNvGrpSpPr/>
          <p:nvPr/>
        </p:nvGrpSpPr>
        <p:grpSpPr>
          <a:xfrm>
            <a:off x="685800" y="7617126"/>
            <a:ext cx="11059886" cy="1997244"/>
            <a:chOff x="685800" y="8801385"/>
            <a:chExt cx="11059886" cy="1997244"/>
          </a:xfrm>
        </p:grpSpPr>
        <p:sp>
          <p:nvSpPr>
            <p:cNvPr id="12" name="Shape 8"/>
            <p:cNvSpPr/>
            <p:nvPr/>
          </p:nvSpPr>
          <p:spPr>
            <a:xfrm>
              <a:off x="685800" y="9280916"/>
              <a:ext cx="1054718" cy="1078943"/>
            </a:xfrm>
            <a:prstGeom prst="ellipse">
              <a:avLst/>
            </a:prstGeom>
            <a:solidFill>
              <a:srgbClr val="222A2C"/>
            </a:solidFill>
            <a:ln w="12700">
              <a:solidFill>
                <a:srgbClr val="00E5FF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pic>
          <p:nvPicPr>
            <p:cNvPr id="13" name="Image 2" descr="icons/bullseye_teal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1121" y="9583020"/>
              <a:ext cx="464075" cy="474735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2150686" y="8801385"/>
              <a:ext cx="9595000" cy="917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Action-Oriented</a:t>
              </a:r>
              <a:endParaRPr lang="en-US" sz="190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2150686" y="9779627"/>
              <a:ext cx="9595000" cy="1019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350" dirty="0">
                  <a:solidFill>
                    <a:srgbClr val="DCE2E6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Moves businesses from watching problems to solving root causes.</a:t>
              </a:r>
              <a:endParaRPr lang="en-US" sz="13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333</Words>
  <Application>Microsoft Office PowerPoint</Application>
  <PresentationFormat>Custom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Raw Spreadsheets to Executive Insights</dc:title>
  <dc:subject>PptxGenJS Presentation</dc:subject>
  <dc:creator>Data Analytics Case Study</dc:creator>
  <cp:lastModifiedBy>Dipan Nandi</cp:lastModifiedBy>
  <cp:revision>3</cp:revision>
  <dcterms:created xsi:type="dcterms:W3CDTF">2026-07-01T20:31:28Z</dcterms:created>
  <dcterms:modified xsi:type="dcterms:W3CDTF">2026-07-01T20:54:12Z</dcterms:modified>
</cp:coreProperties>
</file>