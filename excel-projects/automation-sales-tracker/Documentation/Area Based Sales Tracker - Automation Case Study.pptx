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2A2032"/>
    <a:srgbClr val="1F1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602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20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F2702D9-F85E-A266-5F5D-4E26A4602D13}"/>
              </a:ext>
            </a:extLst>
          </p:cNvPr>
          <p:cNvGrpSpPr/>
          <p:nvPr/>
        </p:nvGrpSpPr>
        <p:grpSpPr>
          <a:xfrm>
            <a:off x="4679829" y="-1010802"/>
            <a:ext cx="5029200" cy="5029200"/>
            <a:chOff x="4679829" y="-1010802"/>
            <a:chExt cx="5029200" cy="5029200"/>
          </a:xfrm>
        </p:grpSpPr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2512DC8F-4CE0-18D8-CEE0-836656665522}"/>
                </a:ext>
              </a:extLst>
            </p:cNvPr>
            <p:cNvSpPr/>
            <p:nvPr/>
          </p:nvSpPr>
          <p:spPr>
            <a:xfrm>
              <a:off x="4679829" y="-1010802"/>
              <a:ext cx="5029200" cy="5029200"/>
            </a:xfrm>
            <a:prstGeom prst="ellipse">
              <a:avLst/>
            </a:prstGeom>
            <a:solidFill>
              <a:srgbClr val="1F1625"/>
            </a:solidFill>
            <a:ln w="12700">
              <a:solidFill>
                <a:srgbClr val="A3E2C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36" name="Shape 7">
              <a:extLst>
                <a:ext uri="{FF2B5EF4-FFF2-40B4-BE49-F238E27FC236}">
                  <a16:creationId xmlns:a16="http://schemas.microsoft.com/office/drawing/2014/main" id="{A51DF8EF-F875-4F75-7BF3-D11811299730}"/>
                </a:ext>
              </a:extLst>
            </p:cNvPr>
            <p:cNvSpPr/>
            <p:nvPr/>
          </p:nvSpPr>
          <p:spPr>
            <a:xfrm>
              <a:off x="5137029" y="-553602"/>
              <a:ext cx="4114800" cy="4114800"/>
            </a:xfrm>
            <a:prstGeom prst="ellipse">
              <a:avLst/>
            </a:prstGeom>
            <a:solidFill>
              <a:srgbClr val="2A2032"/>
            </a:solidFill>
            <a:ln w="12700">
              <a:solidFill>
                <a:srgbClr val="A3E2C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</p:grpSp>
      <p:sp>
        <p:nvSpPr>
          <p:cNvPr id="3" name="Text 1"/>
          <p:cNvSpPr/>
          <p:nvPr/>
        </p:nvSpPr>
        <p:spPr>
          <a:xfrm>
            <a:off x="502920" y="6858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rgbClr val="FFD7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ANALYTICS JOURNEY</a:t>
            </a:r>
            <a:endParaRPr lang="en-US" sz="1600" dirty="0">
              <a:solidFill>
                <a:srgbClr val="FFD7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Stop Copy-Pasting.</a:t>
            </a:r>
            <a:endParaRPr lang="en-US" sz="4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Automating.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62393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 built a 3-tier automated sales tracking system in Google Sheets using custom macros to eliminate repetitive manual work.</a:t>
            </a:r>
            <a:endParaRPr lang="en-US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26E8B7B-6B1E-CE77-76EE-372B3EA8AB3E}"/>
              </a:ext>
            </a:extLst>
          </p:cNvPr>
          <p:cNvSpPr/>
          <p:nvPr/>
        </p:nvSpPr>
        <p:spPr>
          <a:xfrm>
            <a:off x="2971799" y="7802334"/>
            <a:ext cx="13716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48B5209-6A89-8102-8669-0EA010669D67}"/>
              </a:ext>
            </a:extLst>
          </p:cNvPr>
          <p:cNvGrpSpPr/>
          <p:nvPr/>
        </p:nvGrpSpPr>
        <p:grpSpPr>
          <a:xfrm>
            <a:off x="401683" y="4361298"/>
            <a:ext cx="6511834" cy="2659598"/>
            <a:chOff x="502920" y="4343400"/>
            <a:chExt cx="6309360" cy="2514600"/>
          </a:xfrm>
        </p:grpSpPr>
        <p:sp>
          <p:nvSpPr>
            <p:cNvPr id="6" name="Shape 4"/>
            <p:cNvSpPr/>
            <p:nvPr/>
          </p:nvSpPr>
          <p:spPr>
            <a:xfrm>
              <a:off x="502920" y="4343400"/>
              <a:ext cx="6309360" cy="2514600"/>
            </a:xfrm>
            <a:prstGeom prst="roundRect">
              <a:avLst>
                <a:gd name="adj" fmla="val 5091"/>
              </a:avLst>
            </a:prstGeom>
            <a:solidFill>
              <a:srgbClr val="2A2032"/>
            </a:solidFill>
            <a:ln/>
            <a:effectLst>
              <a:outerShdw blurRad="177800" dist="50800" dir="5400000" algn="bl" rotWithShape="0">
                <a:srgbClr val="000000">
                  <a:alpha val="32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sp>
          <p:nvSpPr>
            <p:cNvPr id="7" name="Shape 5"/>
            <p:cNvSpPr/>
            <p:nvPr/>
          </p:nvSpPr>
          <p:spPr>
            <a:xfrm>
              <a:off x="1211580" y="5120640"/>
              <a:ext cx="960120" cy="960120"/>
            </a:xfrm>
            <a:prstGeom prst="ellipse">
              <a:avLst/>
            </a:prstGeom>
            <a:solidFill>
              <a:srgbClr val="251B2D"/>
            </a:solidFill>
            <a:ln w="22225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9" name="Text 6"/>
            <p:cNvSpPr/>
            <p:nvPr/>
          </p:nvSpPr>
          <p:spPr>
            <a:xfrm>
              <a:off x="1005840" y="6190488"/>
              <a:ext cx="1371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Form</a:t>
              </a:r>
              <a:endParaRPr lang="en-US" sz="1600" dirty="0"/>
            </a:p>
          </p:txBody>
        </p:sp>
        <p:sp>
          <p:nvSpPr>
            <p:cNvPr id="11" name="Shape 7"/>
            <p:cNvSpPr/>
            <p:nvPr/>
          </p:nvSpPr>
          <p:spPr>
            <a:xfrm>
              <a:off x="3177540" y="5120640"/>
              <a:ext cx="960120" cy="960120"/>
            </a:xfrm>
            <a:prstGeom prst="ellipse">
              <a:avLst/>
            </a:prstGeom>
            <a:solidFill>
              <a:srgbClr val="251B2D"/>
            </a:solidFill>
            <a:ln w="22225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13" name="Text 8"/>
            <p:cNvSpPr/>
            <p:nvPr/>
          </p:nvSpPr>
          <p:spPr>
            <a:xfrm>
              <a:off x="2971800" y="6190488"/>
              <a:ext cx="1371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Database</a:t>
              </a:r>
              <a:endParaRPr lang="en-US" sz="1600" dirty="0"/>
            </a:p>
          </p:txBody>
        </p:sp>
        <p:sp>
          <p:nvSpPr>
            <p:cNvPr id="15" name="Shape 9"/>
            <p:cNvSpPr/>
            <p:nvPr/>
          </p:nvSpPr>
          <p:spPr>
            <a:xfrm>
              <a:off x="5143500" y="5120640"/>
              <a:ext cx="960120" cy="960120"/>
            </a:xfrm>
            <a:prstGeom prst="ellipse">
              <a:avLst/>
            </a:prstGeom>
            <a:solidFill>
              <a:srgbClr val="251B2D"/>
            </a:solidFill>
            <a:ln w="22225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17" name="Text 10"/>
            <p:cNvSpPr/>
            <p:nvPr/>
          </p:nvSpPr>
          <p:spPr>
            <a:xfrm>
              <a:off x="4937760" y="6190488"/>
              <a:ext cx="1371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Dashboard</a:t>
              </a:r>
              <a:endParaRPr lang="en-US" sz="1600" dirty="0"/>
            </a:p>
          </p:txBody>
        </p:sp>
        <p:pic>
          <p:nvPicPr>
            <p:cNvPr id="22" name="Graphic 21" descr="Bar chart with solid fill">
              <a:extLst>
                <a:ext uri="{FF2B5EF4-FFF2-40B4-BE49-F238E27FC236}">
                  <a16:creationId xmlns:a16="http://schemas.microsoft.com/office/drawing/2014/main" id="{C7A10DA1-5FAB-4501-BBE6-AACB1A0184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69964" y="5258208"/>
              <a:ext cx="707191" cy="707191"/>
            </a:xfrm>
            <a:prstGeom prst="rect">
              <a:avLst/>
            </a:prstGeom>
          </p:spPr>
        </p:pic>
        <p:pic>
          <p:nvPicPr>
            <p:cNvPr id="24" name="Graphic 23" descr="Database with solid fill">
              <a:extLst>
                <a:ext uri="{FF2B5EF4-FFF2-40B4-BE49-F238E27FC236}">
                  <a16:creationId xmlns:a16="http://schemas.microsoft.com/office/drawing/2014/main" id="{89820CF1-A1D5-A87A-5732-FF17B5AFCB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05611" y="5251269"/>
              <a:ext cx="703977" cy="703977"/>
            </a:xfrm>
            <a:prstGeom prst="rect">
              <a:avLst/>
            </a:prstGeom>
          </p:spPr>
        </p:pic>
        <p:pic>
          <p:nvPicPr>
            <p:cNvPr id="26" name="Graphic 25" descr="Document with solid fill">
              <a:extLst>
                <a:ext uri="{FF2B5EF4-FFF2-40B4-BE49-F238E27FC236}">
                  <a16:creationId xmlns:a16="http://schemas.microsoft.com/office/drawing/2014/main" id="{F22CF7DB-B53A-4C35-C953-7741FD315C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95766" y="5304826"/>
              <a:ext cx="591747" cy="591747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46A341-D3B6-ECE9-F730-D16F453E73C4}"/>
                </a:ext>
              </a:extLst>
            </p:cNvPr>
            <p:cNvCxnSpPr/>
            <p:nvPr/>
          </p:nvCxnSpPr>
          <p:spPr>
            <a:xfrm>
              <a:off x="2418588" y="5600699"/>
              <a:ext cx="451612" cy="0"/>
            </a:xfrm>
            <a:prstGeom prst="straightConnector1">
              <a:avLst/>
            </a:prstGeom>
            <a:ln w="38100">
              <a:solidFill>
                <a:srgbClr val="FFD7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22FC20C-5940-6930-D1DE-6B866A26D241}"/>
                </a:ext>
              </a:extLst>
            </p:cNvPr>
            <p:cNvCxnSpPr/>
            <p:nvPr/>
          </p:nvCxnSpPr>
          <p:spPr>
            <a:xfrm>
              <a:off x="4373626" y="5600699"/>
              <a:ext cx="451612" cy="0"/>
            </a:xfrm>
            <a:prstGeom prst="straightConnector1">
              <a:avLst/>
            </a:prstGeom>
            <a:ln w="38100">
              <a:solidFill>
                <a:srgbClr val="FFD7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Shape 11">
            <a:extLst>
              <a:ext uri="{FF2B5EF4-FFF2-40B4-BE49-F238E27FC236}">
                <a16:creationId xmlns:a16="http://schemas.microsoft.com/office/drawing/2014/main" id="{85934456-4EA2-CB7B-27B5-E45CFE04400C}"/>
              </a:ext>
            </a:extLst>
          </p:cNvPr>
          <p:cNvSpPr/>
          <p:nvPr/>
        </p:nvSpPr>
        <p:spPr>
          <a:xfrm>
            <a:off x="3209257" y="8019683"/>
            <a:ext cx="896684" cy="45719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488E1AE5-CC35-D6E6-1D39-1A2CB38CB6E1}"/>
              </a:ext>
            </a:extLst>
          </p:cNvPr>
          <p:cNvSpPr/>
          <p:nvPr/>
        </p:nvSpPr>
        <p:spPr>
          <a:xfrm>
            <a:off x="3421378" y="8246175"/>
            <a:ext cx="472441" cy="45719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02C4ACB-E84C-3E6A-8C88-FB49A284BEAB}"/>
              </a:ext>
            </a:extLst>
          </p:cNvPr>
          <p:cNvGrpSpPr/>
          <p:nvPr/>
        </p:nvGrpSpPr>
        <p:grpSpPr>
          <a:xfrm>
            <a:off x="4679829" y="-1010802"/>
            <a:ext cx="5029200" cy="5029200"/>
            <a:chOff x="4679829" y="-1010802"/>
            <a:chExt cx="5029200" cy="5029200"/>
          </a:xfrm>
        </p:grpSpPr>
        <p:sp>
          <p:nvSpPr>
            <p:cNvPr id="24" name="Shape 6">
              <a:extLst>
                <a:ext uri="{FF2B5EF4-FFF2-40B4-BE49-F238E27FC236}">
                  <a16:creationId xmlns:a16="http://schemas.microsoft.com/office/drawing/2014/main" id="{907EFBE4-98B2-6A60-89FF-FE15BEAE6AE0}"/>
                </a:ext>
              </a:extLst>
            </p:cNvPr>
            <p:cNvSpPr/>
            <p:nvPr/>
          </p:nvSpPr>
          <p:spPr>
            <a:xfrm>
              <a:off x="4679829" y="-1010802"/>
              <a:ext cx="5029200" cy="5029200"/>
            </a:xfrm>
            <a:prstGeom prst="ellipse">
              <a:avLst/>
            </a:prstGeom>
            <a:solidFill>
              <a:srgbClr val="1F1625"/>
            </a:solidFill>
            <a:ln w="12700">
              <a:solidFill>
                <a:srgbClr val="A3E2C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25" name="Shape 7">
              <a:extLst>
                <a:ext uri="{FF2B5EF4-FFF2-40B4-BE49-F238E27FC236}">
                  <a16:creationId xmlns:a16="http://schemas.microsoft.com/office/drawing/2014/main" id="{EA73F4C1-4B59-C279-F51D-CDB5510CEABE}"/>
                </a:ext>
              </a:extLst>
            </p:cNvPr>
            <p:cNvSpPr/>
            <p:nvPr/>
          </p:nvSpPr>
          <p:spPr>
            <a:xfrm>
              <a:off x="5137029" y="-553602"/>
              <a:ext cx="4114800" cy="4114800"/>
            </a:xfrm>
            <a:prstGeom prst="ellipse">
              <a:avLst/>
            </a:prstGeom>
            <a:solidFill>
              <a:srgbClr val="2A2032"/>
            </a:solidFill>
            <a:ln w="12700">
              <a:solidFill>
                <a:srgbClr val="A3E2C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</p:grpSp>
      <p:sp>
        <p:nvSpPr>
          <p:cNvPr id="5" name="Text 2"/>
          <p:cNvSpPr/>
          <p:nvPr/>
        </p:nvSpPr>
        <p:spPr>
          <a:xfrm>
            <a:off x="502920" y="512064"/>
            <a:ext cx="5541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Guarding Data Quality at the Source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1149153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easiest way to fix dirty data is to prevent it from entering the system. I built a dedicated data entry interface complete with strict validation drop-downs.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9B3727F-8E19-4836-8C28-CF83CDF52834}"/>
              </a:ext>
            </a:extLst>
          </p:cNvPr>
          <p:cNvGrpSpPr/>
          <p:nvPr/>
        </p:nvGrpSpPr>
        <p:grpSpPr>
          <a:xfrm>
            <a:off x="327740" y="2523774"/>
            <a:ext cx="6484539" cy="4096452"/>
            <a:chOff x="576072" y="3063240"/>
            <a:chExt cx="6163056" cy="4297620"/>
          </a:xfrm>
        </p:grpSpPr>
        <p:sp>
          <p:nvSpPr>
            <p:cNvPr id="7" name="Shape 4"/>
            <p:cNvSpPr/>
            <p:nvPr/>
          </p:nvSpPr>
          <p:spPr>
            <a:xfrm>
              <a:off x="576072" y="3063240"/>
              <a:ext cx="6163056" cy="4297620"/>
            </a:xfrm>
            <a:prstGeom prst="roundRect">
              <a:avLst>
                <a:gd name="adj" fmla="val 1915"/>
              </a:avLst>
            </a:prstGeom>
            <a:solidFill>
              <a:srgbClr val="2A2032"/>
            </a:solidFill>
            <a:ln/>
            <a:effectLst>
              <a:outerShdw blurRad="177800" dist="50800" dir="5400000" algn="bl" rotWithShape="0">
                <a:srgbClr val="000000">
                  <a:alpha val="32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8" name="Image 1" descr="/home/claude/pptx_project/images/L1.png"/>
            <p:cNvPicPr>
              <a:picLocks noChangeAspect="1"/>
            </p:cNvPicPr>
            <p:nvPr/>
          </p:nvPicPr>
          <p:blipFill>
            <a:blip r:embed="rId3"/>
            <a:srcRect l="8122" t="1295" r="5734" b="8609"/>
            <a:stretch>
              <a:fillRect/>
            </a:stretch>
          </p:blipFill>
          <p:spPr>
            <a:xfrm>
              <a:off x="734885" y="3264407"/>
              <a:ext cx="5836801" cy="3909185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2FD3A4-22C3-895D-1F11-712BB94E9DA3}"/>
              </a:ext>
            </a:extLst>
          </p:cNvPr>
          <p:cNvGrpSpPr/>
          <p:nvPr/>
        </p:nvGrpSpPr>
        <p:grpSpPr>
          <a:xfrm>
            <a:off x="502920" y="7056220"/>
            <a:ext cx="6309360" cy="1481328"/>
            <a:chOff x="502920" y="6806184"/>
            <a:chExt cx="6309360" cy="148132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8D29050-36A3-F83F-A193-43D4345C5603}"/>
                </a:ext>
              </a:extLst>
            </p:cNvPr>
            <p:cNvGrpSpPr/>
            <p:nvPr/>
          </p:nvGrpSpPr>
          <p:grpSpPr>
            <a:xfrm>
              <a:off x="502920" y="6806184"/>
              <a:ext cx="6309360" cy="1481328"/>
              <a:chOff x="502920" y="2423160"/>
              <a:chExt cx="6309360" cy="1481328"/>
            </a:xfrm>
          </p:grpSpPr>
          <p:sp>
            <p:nvSpPr>
              <p:cNvPr id="12" name="Shape 4">
                <a:extLst>
                  <a:ext uri="{FF2B5EF4-FFF2-40B4-BE49-F238E27FC236}">
                    <a16:creationId xmlns:a16="http://schemas.microsoft.com/office/drawing/2014/main" id="{1A6E4460-3881-A062-22FD-03D859530294}"/>
                  </a:ext>
                </a:extLst>
              </p:cNvPr>
              <p:cNvSpPr/>
              <p:nvPr/>
            </p:nvSpPr>
            <p:spPr>
              <a:xfrm>
                <a:off x="502920" y="2423160"/>
                <a:ext cx="6309360" cy="1481328"/>
              </a:xfrm>
              <a:prstGeom prst="roundRect">
                <a:avLst>
                  <a:gd name="adj" fmla="val 7407"/>
                </a:avLst>
              </a:prstGeom>
              <a:solidFill>
                <a:srgbClr val="2A2032"/>
              </a:solidFill>
              <a:ln/>
              <a:effectLst>
                <a:outerShdw blurRad="127000" dist="38100" dir="5400000" algn="bl" rotWithShape="0">
                  <a:srgbClr val="000000">
                    <a:alpha val="28000"/>
                  </a:srgbClr>
                </a:outerShdw>
              </a:effectLst>
            </p:spPr>
            <p:txBody>
              <a:bodyPr/>
              <a:lstStyle/>
              <a:p>
                <a:endParaRPr lang="en-001"/>
              </a:p>
            </p:txBody>
          </p:sp>
          <p:sp>
            <p:nvSpPr>
              <p:cNvPr id="15" name="Text 6">
                <a:extLst>
                  <a:ext uri="{FF2B5EF4-FFF2-40B4-BE49-F238E27FC236}">
                    <a16:creationId xmlns:a16="http://schemas.microsoft.com/office/drawing/2014/main" id="{C35CD644-F1D5-D3C5-ACFD-03A3977D105C}"/>
                  </a:ext>
                </a:extLst>
              </p:cNvPr>
              <p:cNvSpPr/>
              <p:nvPr/>
            </p:nvSpPr>
            <p:spPr>
              <a:xfrm>
                <a:off x="1648337" y="2637847"/>
                <a:ext cx="4882896" cy="3108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The Form</a:t>
                </a:r>
                <a:endParaRPr lang="en-US" sz="2400" dirty="0"/>
              </a:p>
            </p:txBody>
          </p:sp>
          <p:sp>
            <p:nvSpPr>
              <p:cNvPr id="16" name="Text 7">
                <a:extLst>
                  <a:ext uri="{FF2B5EF4-FFF2-40B4-BE49-F238E27FC236}">
                    <a16:creationId xmlns:a16="http://schemas.microsoft.com/office/drawing/2014/main" id="{B121E44A-6B76-6109-4AE1-5AFC1CAE1577}"/>
                  </a:ext>
                </a:extLst>
              </p:cNvPr>
              <p:cNvSpPr/>
              <p:nvPr/>
            </p:nvSpPr>
            <p:spPr>
              <a:xfrm>
                <a:off x="1648337" y="3063240"/>
                <a:ext cx="4988764" cy="8412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DCE2E6"/>
                    </a:solidFill>
                    <a:latin typeface="Open Sans" pitchFamily="34" charset="0"/>
                    <a:ea typeface="Open Sans" pitchFamily="34" charset="-122"/>
                    <a:cs typeface="Open Sans" pitchFamily="34" charset="-120"/>
                  </a:rPr>
                  <a:t>Controlled input layer for field operators, almost every entry is guided and validated.</a:t>
                </a:r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8E7849A-5927-AD11-2FF0-A18A7556F59E}"/>
                </a:ext>
              </a:extLst>
            </p:cNvPr>
            <p:cNvGrpSpPr/>
            <p:nvPr/>
          </p:nvGrpSpPr>
          <p:grpSpPr>
            <a:xfrm>
              <a:off x="675212" y="7117020"/>
              <a:ext cx="800833" cy="841248"/>
              <a:chOff x="5880747" y="7522679"/>
              <a:chExt cx="990931" cy="1015483"/>
            </a:xfrm>
          </p:grpSpPr>
          <p:sp>
            <p:nvSpPr>
              <p:cNvPr id="18" name="Shape 5">
                <a:extLst>
                  <a:ext uri="{FF2B5EF4-FFF2-40B4-BE49-F238E27FC236}">
                    <a16:creationId xmlns:a16="http://schemas.microsoft.com/office/drawing/2014/main" id="{FEC8610D-A957-FEB8-FCE0-9FD562C7A606}"/>
                  </a:ext>
                </a:extLst>
              </p:cNvPr>
              <p:cNvSpPr/>
              <p:nvPr/>
            </p:nvSpPr>
            <p:spPr>
              <a:xfrm>
                <a:off x="5880747" y="7522679"/>
                <a:ext cx="990931" cy="1015483"/>
              </a:xfrm>
              <a:prstGeom prst="ellipse">
                <a:avLst/>
              </a:prstGeom>
              <a:solidFill>
                <a:srgbClr val="251B2D"/>
              </a:solidFill>
              <a:ln w="22225">
                <a:solidFill>
                  <a:srgbClr val="FFD700"/>
                </a:solidFill>
                <a:prstDash val="solid"/>
              </a:ln>
            </p:spPr>
            <p:txBody>
              <a:bodyPr/>
              <a:lstStyle/>
              <a:p>
                <a:endParaRPr lang="en-001"/>
              </a:p>
            </p:txBody>
          </p:sp>
          <p:pic>
            <p:nvPicPr>
              <p:cNvPr id="20" name="Graphic 19" descr="Document with solid fill">
                <a:extLst>
                  <a:ext uri="{FF2B5EF4-FFF2-40B4-BE49-F238E27FC236}">
                    <a16:creationId xmlns:a16="http://schemas.microsoft.com/office/drawing/2014/main" id="{6F79963F-7DCA-6954-9811-A1A27EE50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070843" y="7717485"/>
                <a:ext cx="610737" cy="625869"/>
              </a:xfrm>
              <a:prstGeom prst="rect">
                <a:avLst/>
              </a:prstGeom>
            </p:spPr>
          </p:pic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C395BB2-9756-4B6C-02F5-DB27801A50C1}"/>
              </a:ext>
            </a:extLst>
          </p:cNvPr>
          <p:cNvSpPr/>
          <p:nvPr/>
        </p:nvSpPr>
        <p:spPr>
          <a:xfrm>
            <a:off x="-121920" y="9022080"/>
            <a:ext cx="7680960" cy="8412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2DD936A-88D6-79F9-56DE-51C562092A50}"/>
              </a:ext>
            </a:extLst>
          </p:cNvPr>
          <p:cNvGrpSpPr/>
          <p:nvPr/>
        </p:nvGrpSpPr>
        <p:grpSpPr>
          <a:xfrm>
            <a:off x="4800600" y="6122623"/>
            <a:ext cx="5029200" cy="5029200"/>
            <a:chOff x="4679829" y="-1010802"/>
            <a:chExt cx="5029200" cy="5029200"/>
          </a:xfrm>
        </p:grpSpPr>
        <p:sp>
          <p:nvSpPr>
            <p:cNvPr id="34" name="Shape 6">
              <a:extLst>
                <a:ext uri="{FF2B5EF4-FFF2-40B4-BE49-F238E27FC236}">
                  <a16:creationId xmlns:a16="http://schemas.microsoft.com/office/drawing/2014/main" id="{A727FDAC-1507-4EE0-654B-303A65EF40F6}"/>
                </a:ext>
              </a:extLst>
            </p:cNvPr>
            <p:cNvSpPr/>
            <p:nvPr/>
          </p:nvSpPr>
          <p:spPr>
            <a:xfrm>
              <a:off x="4679829" y="-1010802"/>
              <a:ext cx="5029200" cy="5029200"/>
            </a:xfrm>
            <a:prstGeom prst="ellipse">
              <a:avLst/>
            </a:prstGeom>
            <a:solidFill>
              <a:srgbClr val="1F1625"/>
            </a:solidFill>
            <a:ln w="12700">
              <a:solidFill>
                <a:srgbClr val="A3E2C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35" name="Shape 7">
              <a:extLst>
                <a:ext uri="{FF2B5EF4-FFF2-40B4-BE49-F238E27FC236}">
                  <a16:creationId xmlns:a16="http://schemas.microsoft.com/office/drawing/2014/main" id="{D8F7E53A-4867-AD8D-6C4C-D71A4191DC4B}"/>
                </a:ext>
              </a:extLst>
            </p:cNvPr>
            <p:cNvSpPr/>
            <p:nvPr/>
          </p:nvSpPr>
          <p:spPr>
            <a:xfrm>
              <a:off x="5137029" y="-553602"/>
              <a:ext cx="4114800" cy="4114800"/>
            </a:xfrm>
            <a:prstGeom prst="ellipse">
              <a:avLst/>
            </a:prstGeom>
            <a:solidFill>
              <a:srgbClr val="2A2032"/>
            </a:solidFill>
            <a:ln w="12700">
              <a:solidFill>
                <a:srgbClr val="A3E2C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6FE1E6-C84E-4FC6-08D5-D7894747E7BD}"/>
              </a:ext>
            </a:extLst>
          </p:cNvPr>
          <p:cNvGrpSpPr/>
          <p:nvPr/>
        </p:nvGrpSpPr>
        <p:grpSpPr>
          <a:xfrm>
            <a:off x="-2764133" y="-1654532"/>
            <a:ext cx="5029200" cy="5029200"/>
            <a:chOff x="4679829" y="-1010802"/>
            <a:chExt cx="5029200" cy="5029200"/>
          </a:xfrm>
        </p:grpSpPr>
        <p:sp>
          <p:nvSpPr>
            <p:cNvPr id="31" name="Shape 6">
              <a:extLst>
                <a:ext uri="{FF2B5EF4-FFF2-40B4-BE49-F238E27FC236}">
                  <a16:creationId xmlns:a16="http://schemas.microsoft.com/office/drawing/2014/main" id="{D03C85CF-058F-B362-133F-A5B89A732012}"/>
                </a:ext>
              </a:extLst>
            </p:cNvPr>
            <p:cNvSpPr/>
            <p:nvPr/>
          </p:nvSpPr>
          <p:spPr>
            <a:xfrm>
              <a:off x="4679829" y="-1010802"/>
              <a:ext cx="5029200" cy="5029200"/>
            </a:xfrm>
            <a:prstGeom prst="ellipse">
              <a:avLst/>
            </a:prstGeom>
            <a:solidFill>
              <a:srgbClr val="1F1625"/>
            </a:solidFill>
            <a:ln w="12700">
              <a:solidFill>
                <a:srgbClr val="A3E2C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DC896387-4D7E-67B8-E46B-E5189EB54E53}"/>
                </a:ext>
              </a:extLst>
            </p:cNvPr>
            <p:cNvSpPr/>
            <p:nvPr/>
          </p:nvSpPr>
          <p:spPr>
            <a:xfrm>
              <a:off x="5137029" y="-553602"/>
              <a:ext cx="4114800" cy="4114800"/>
            </a:xfrm>
            <a:prstGeom prst="ellipse">
              <a:avLst/>
            </a:prstGeom>
            <a:solidFill>
              <a:srgbClr val="2A2032"/>
            </a:solidFill>
            <a:ln w="12700">
              <a:solidFill>
                <a:srgbClr val="A3E2C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AA7751-005E-8E0A-680B-1B68FD754063}"/>
              </a:ext>
            </a:extLst>
          </p:cNvPr>
          <p:cNvGrpSpPr/>
          <p:nvPr/>
        </p:nvGrpSpPr>
        <p:grpSpPr>
          <a:xfrm>
            <a:off x="665988" y="5799602"/>
            <a:ext cx="5247132" cy="2804092"/>
            <a:chOff x="595194" y="6169024"/>
            <a:chExt cx="6124812" cy="3145536"/>
          </a:xfrm>
        </p:grpSpPr>
        <p:sp>
          <p:nvSpPr>
            <p:cNvPr id="9" name="Shape 5"/>
            <p:cNvSpPr/>
            <p:nvPr/>
          </p:nvSpPr>
          <p:spPr>
            <a:xfrm>
              <a:off x="595194" y="6169024"/>
              <a:ext cx="6124812" cy="3145536"/>
            </a:xfrm>
            <a:prstGeom prst="roundRect">
              <a:avLst>
                <a:gd name="adj" fmla="val 2616"/>
              </a:avLst>
            </a:prstGeom>
            <a:solidFill>
              <a:srgbClr val="2A2032"/>
            </a:solidFill>
            <a:ln/>
            <a:effectLst>
              <a:outerShdw blurRad="177800" dist="50800" dir="5400000" algn="bl" rotWithShape="0">
                <a:srgbClr val="000000">
                  <a:alpha val="32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10" name="Image 2" descr="/home/claude/pptx_project/images/DS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6362" y="6370192"/>
              <a:ext cx="5722476" cy="27432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5DC8C26-8C1D-78F5-3828-1CFDC2C0EE21}"/>
              </a:ext>
            </a:extLst>
          </p:cNvPr>
          <p:cNvGrpSpPr/>
          <p:nvPr/>
        </p:nvGrpSpPr>
        <p:grpSpPr>
          <a:xfrm>
            <a:off x="980911" y="1706206"/>
            <a:ext cx="5729083" cy="2756066"/>
            <a:chOff x="595194" y="2724912"/>
            <a:chExt cx="6124812" cy="3145536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2BC18A1D-D1DF-1F15-C8DD-0E9750E17231}"/>
                </a:ext>
              </a:extLst>
            </p:cNvPr>
            <p:cNvSpPr/>
            <p:nvPr/>
          </p:nvSpPr>
          <p:spPr>
            <a:xfrm>
              <a:off x="595194" y="2724912"/>
              <a:ext cx="6124812" cy="3145536"/>
            </a:xfrm>
            <a:prstGeom prst="roundRect">
              <a:avLst>
                <a:gd name="adj" fmla="val 2616"/>
              </a:avLst>
            </a:prstGeom>
            <a:solidFill>
              <a:srgbClr val="2A2032"/>
            </a:solidFill>
            <a:ln/>
            <a:effectLst>
              <a:outerShdw blurRad="177800" dist="50800" dir="5400000" algn="bl" rotWithShape="0">
                <a:srgbClr val="000000">
                  <a:alpha val="32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8" name="Image 1" descr="/home/claude/pptx_project/images/D1.png"/>
            <p:cNvPicPr>
              <a:picLocks noChangeAspect="1"/>
            </p:cNvPicPr>
            <p:nvPr/>
          </p:nvPicPr>
          <p:blipFill>
            <a:blip r:embed="rId4"/>
            <a:srcRect b="47762"/>
            <a:stretch>
              <a:fillRect/>
            </a:stretch>
          </p:blipFill>
          <p:spPr>
            <a:xfrm>
              <a:off x="796362" y="2926080"/>
              <a:ext cx="5722476" cy="2743200"/>
            </a:xfrm>
            <a:prstGeom prst="rect">
              <a:avLst/>
            </a:prstGeom>
          </p:spPr>
        </p:pic>
      </p:grpSp>
      <p:sp>
        <p:nvSpPr>
          <p:cNvPr id="19" name="Text 10">
            <a:extLst>
              <a:ext uri="{FF2B5EF4-FFF2-40B4-BE49-F238E27FC236}">
                <a16:creationId xmlns:a16="http://schemas.microsoft.com/office/drawing/2014/main" id="{25CD0E43-37C3-6D9C-6785-7669CD2411BB}"/>
              </a:ext>
            </a:extLst>
          </p:cNvPr>
          <p:cNvSpPr/>
          <p:nvPr/>
        </p:nvSpPr>
        <p:spPr>
          <a:xfrm>
            <a:off x="4315790" y="524720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Database</a:t>
            </a:r>
            <a:endParaRPr lang="en-US" sz="20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810BB25B-1CAE-5B1F-9E70-A42F9BFD9BC0}"/>
              </a:ext>
            </a:extLst>
          </p:cNvPr>
          <p:cNvSpPr/>
          <p:nvPr/>
        </p:nvSpPr>
        <p:spPr>
          <a:xfrm>
            <a:off x="1827098" y="890503"/>
            <a:ext cx="4882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storage layer that runs quietly in the background, out of reach of manual edits.</a:t>
            </a:r>
            <a:endParaRPr lang="en-US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A8A0468-4C8B-01CA-9074-DEBD66625A9C}"/>
              </a:ext>
            </a:extLst>
          </p:cNvPr>
          <p:cNvSpPr/>
          <p:nvPr/>
        </p:nvSpPr>
        <p:spPr>
          <a:xfrm>
            <a:off x="1169081" y="4681728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FFFFFF"/>
                </a:solidFill>
                <a:latin typeface="Montserrat" pitchFamily="34" charset="0"/>
              </a:rPr>
              <a:t>The Dashboard</a:t>
            </a: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18F4FA5-C414-4142-D5B8-4483C38B390C}"/>
              </a:ext>
            </a:extLst>
          </p:cNvPr>
          <p:cNvSpPr/>
          <p:nvPr/>
        </p:nvSpPr>
        <p:spPr>
          <a:xfrm>
            <a:off x="665988" y="5010912"/>
            <a:ext cx="4882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visualization layer built for management decision-making, in real time.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DBBE86-31C0-C221-2A8A-0AA8DE0023F4}"/>
              </a:ext>
            </a:extLst>
          </p:cNvPr>
          <p:cNvGrpSpPr/>
          <p:nvPr/>
        </p:nvGrpSpPr>
        <p:grpSpPr>
          <a:xfrm>
            <a:off x="665988" y="4589045"/>
            <a:ext cx="394288" cy="397281"/>
            <a:chOff x="5191184" y="5183356"/>
            <a:chExt cx="990931" cy="1015483"/>
          </a:xfrm>
        </p:grpSpPr>
        <p:sp>
          <p:nvSpPr>
            <p:cNvPr id="39" name="Shape 9">
              <a:extLst>
                <a:ext uri="{FF2B5EF4-FFF2-40B4-BE49-F238E27FC236}">
                  <a16:creationId xmlns:a16="http://schemas.microsoft.com/office/drawing/2014/main" id="{8F9B8235-1755-7B0D-9E10-7DFF41599AEC}"/>
                </a:ext>
              </a:extLst>
            </p:cNvPr>
            <p:cNvSpPr/>
            <p:nvPr/>
          </p:nvSpPr>
          <p:spPr>
            <a:xfrm>
              <a:off x="5191184" y="5183356"/>
              <a:ext cx="990931" cy="1015483"/>
            </a:xfrm>
            <a:prstGeom prst="ellipse">
              <a:avLst/>
            </a:prstGeom>
            <a:solidFill>
              <a:srgbClr val="251B2D"/>
            </a:solidFill>
            <a:ln w="22225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pic>
          <p:nvPicPr>
            <p:cNvPr id="41" name="Graphic 40" descr="Bar chart with solid fill">
              <a:extLst>
                <a:ext uri="{FF2B5EF4-FFF2-40B4-BE49-F238E27FC236}">
                  <a16:creationId xmlns:a16="http://schemas.microsoft.com/office/drawing/2014/main" id="{6756260C-578B-497B-990F-4FC66E841F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21706" y="5328856"/>
              <a:ext cx="729886" cy="74796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868825-F5C8-D7B3-8475-99ABB83AEE7C}"/>
              </a:ext>
            </a:extLst>
          </p:cNvPr>
          <p:cNvGrpSpPr/>
          <p:nvPr/>
        </p:nvGrpSpPr>
        <p:grpSpPr>
          <a:xfrm>
            <a:off x="6240998" y="418320"/>
            <a:ext cx="468996" cy="472183"/>
            <a:chOff x="7825574" y="3281285"/>
            <a:chExt cx="990931" cy="1015483"/>
          </a:xfrm>
        </p:grpSpPr>
        <p:sp>
          <p:nvSpPr>
            <p:cNvPr id="37" name="Shape 7">
              <a:extLst>
                <a:ext uri="{FF2B5EF4-FFF2-40B4-BE49-F238E27FC236}">
                  <a16:creationId xmlns:a16="http://schemas.microsoft.com/office/drawing/2014/main" id="{9C8152AF-68F0-0885-3F31-6A92AB174603}"/>
                </a:ext>
              </a:extLst>
            </p:cNvPr>
            <p:cNvSpPr/>
            <p:nvPr/>
          </p:nvSpPr>
          <p:spPr>
            <a:xfrm>
              <a:off x="7825574" y="3281285"/>
              <a:ext cx="990931" cy="1015483"/>
            </a:xfrm>
            <a:prstGeom prst="ellipse">
              <a:avLst/>
            </a:prstGeom>
            <a:solidFill>
              <a:srgbClr val="251B2D"/>
            </a:solidFill>
            <a:ln w="22225">
              <a:solidFill>
                <a:srgbClr val="FFD700"/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pic>
          <p:nvPicPr>
            <p:cNvPr id="43" name="Graphic 42" descr="Database with solid fill">
              <a:extLst>
                <a:ext uri="{FF2B5EF4-FFF2-40B4-BE49-F238E27FC236}">
                  <a16:creationId xmlns:a16="http://schemas.microsoft.com/office/drawing/2014/main" id="{0D65EED6-68AF-EBCC-2564-C4D12206DE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57755" y="3419446"/>
              <a:ext cx="726568" cy="744570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2693858D-5DDF-EE00-94E6-8C804CFC810B}"/>
              </a:ext>
            </a:extLst>
          </p:cNvPr>
          <p:cNvSpPr/>
          <p:nvPr/>
        </p:nvSpPr>
        <p:spPr>
          <a:xfrm>
            <a:off x="-121920" y="9022080"/>
            <a:ext cx="7680960" cy="8412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7745168-599F-2814-8CF6-E5D4CA977D8E}"/>
              </a:ext>
            </a:extLst>
          </p:cNvPr>
          <p:cNvGrpSpPr/>
          <p:nvPr/>
        </p:nvGrpSpPr>
        <p:grpSpPr>
          <a:xfrm>
            <a:off x="4679829" y="-1010802"/>
            <a:ext cx="5029200" cy="5029200"/>
            <a:chOff x="4679829" y="-1010802"/>
            <a:chExt cx="5029200" cy="5029200"/>
          </a:xfrm>
        </p:grpSpPr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9901DF4E-655C-20E5-AEC3-77B112774A43}"/>
                </a:ext>
              </a:extLst>
            </p:cNvPr>
            <p:cNvSpPr/>
            <p:nvPr/>
          </p:nvSpPr>
          <p:spPr>
            <a:xfrm>
              <a:off x="4679829" y="-1010802"/>
              <a:ext cx="5029200" cy="5029200"/>
            </a:xfrm>
            <a:prstGeom prst="ellipse">
              <a:avLst/>
            </a:prstGeom>
            <a:solidFill>
              <a:srgbClr val="1F1625"/>
            </a:solidFill>
            <a:ln w="12700">
              <a:solidFill>
                <a:srgbClr val="A3E2C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2F96354A-059A-674B-C03B-B105ED18D779}"/>
                </a:ext>
              </a:extLst>
            </p:cNvPr>
            <p:cNvSpPr/>
            <p:nvPr/>
          </p:nvSpPr>
          <p:spPr>
            <a:xfrm>
              <a:off x="5137029" y="-553602"/>
              <a:ext cx="4114800" cy="4114800"/>
            </a:xfrm>
            <a:prstGeom prst="ellipse">
              <a:avLst/>
            </a:prstGeom>
            <a:solidFill>
              <a:srgbClr val="2A2032"/>
            </a:solidFill>
            <a:ln w="12700">
              <a:solidFill>
                <a:srgbClr val="A3E2C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</p:grpSp>
      <p:sp>
        <p:nvSpPr>
          <p:cNvPr id="5" name="Text 2"/>
          <p:cNvSpPr/>
          <p:nvPr/>
        </p:nvSpPr>
        <p:spPr>
          <a:xfrm>
            <a:off x="502920" y="585216"/>
            <a:ext cx="5541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Entering Live Field Transactions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" y="1312164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0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Sales Officer fills out the form with a new entry</a:t>
            </a:r>
            <a:r>
              <a:rPr lang="en-US" sz="2000" dirty="0">
                <a:solidFill>
                  <a:srgbClr val="FFD7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Alif Khan closes a Tablet sale in Chittagong </a:t>
            </a:r>
            <a:r>
              <a:rPr lang="en-US" sz="20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valued at 14,000. Instead of manually finding the next blank row in a master sheet, they simply hit Submit.</a:t>
            </a:r>
            <a:endParaRPr lang="en-US" sz="2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D3ADB9-81EA-794C-F7B4-4EC4F0ED4404}"/>
              </a:ext>
            </a:extLst>
          </p:cNvPr>
          <p:cNvGrpSpPr/>
          <p:nvPr/>
        </p:nvGrpSpPr>
        <p:grpSpPr>
          <a:xfrm>
            <a:off x="896112" y="3186451"/>
            <a:ext cx="5522976" cy="4481025"/>
            <a:chOff x="896112" y="3063240"/>
            <a:chExt cx="5522976" cy="4481025"/>
          </a:xfrm>
        </p:grpSpPr>
        <p:sp>
          <p:nvSpPr>
            <p:cNvPr id="7" name="Shape 4"/>
            <p:cNvSpPr/>
            <p:nvPr/>
          </p:nvSpPr>
          <p:spPr>
            <a:xfrm>
              <a:off x="896112" y="3063240"/>
              <a:ext cx="5522976" cy="4481025"/>
            </a:xfrm>
            <a:prstGeom prst="roundRect">
              <a:avLst>
                <a:gd name="adj" fmla="val 1837"/>
              </a:avLst>
            </a:prstGeom>
            <a:solidFill>
              <a:srgbClr val="2A2032"/>
            </a:solidFill>
            <a:ln/>
            <a:effectLst>
              <a:outerShdw blurRad="177800" dist="50800" dir="5400000" algn="bl" rotWithShape="0">
                <a:srgbClr val="000000">
                  <a:alpha val="32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8" name="Image 1" descr="/home/claude/pptx_project/images/L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3264408"/>
              <a:ext cx="5120640" cy="4078689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4D32EA7-9277-15A0-65B4-ADE5ACEBB2B0}"/>
              </a:ext>
            </a:extLst>
          </p:cNvPr>
          <p:cNvSpPr/>
          <p:nvPr/>
        </p:nvSpPr>
        <p:spPr>
          <a:xfrm>
            <a:off x="-121920" y="9022080"/>
            <a:ext cx="7680960" cy="8412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DD94E11-2677-159F-6B30-E1CB5698CEA6}"/>
              </a:ext>
            </a:extLst>
          </p:cNvPr>
          <p:cNvGrpSpPr/>
          <p:nvPr/>
        </p:nvGrpSpPr>
        <p:grpSpPr>
          <a:xfrm>
            <a:off x="-2862072" y="5346288"/>
            <a:ext cx="5029200" cy="5029200"/>
            <a:chOff x="4679829" y="-1010802"/>
            <a:chExt cx="5029200" cy="5029200"/>
          </a:xfrm>
        </p:grpSpPr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78DF2E15-9480-9E70-607E-9C45BD542B37}"/>
                </a:ext>
              </a:extLst>
            </p:cNvPr>
            <p:cNvSpPr/>
            <p:nvPr/>
          </p:nvSpPr>
          <p:spPr>
            <a:xfrm>
              <a:off x="4679829" y="-1010802"/>
              <a:ext cx="5029200" cy="5029200"/>
            </a:xfrm>
            <a:prstGeom prst="ellipse">
              <a:avLst/>
            </a:prstGeom>
            <a:solidFill>
              <a:srgbClr val="1F1625"/>
            </a:solidFill>
            <a:ln w="12700">
              <a:solidFill>
                <a:srgbClr val="A3E2C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19" name="Shape 7">
              <a:extLst>
                <a:ext uri="{FF2B5EF4-FFF2-40B4-BE49-F238E27FC236}">
                  <a16:creationId xmlns:a16="http://schemas.microsoft.com/office/drawing/2014/main" id="{CDF9E5C9-6A20-DBF4-BBA8-E7C4741FD755}"/>
                </a:ext>
              </a:extLst>
            </p:cNvPr>
            <p:cNvSpPr/>
            <p:nvPr/>
          </p:nvSpPr>
          <p:spPr>
            <a:xfrm>
              <a:off x="5137029" y="-553602"/>
              <a:ext cx="4114800" cy="4114800"/>
            </a:xfrm>
            <a:prstGeom prst="ellipse">
              <a:avLst/>
            </a:prstGeom>
            <a:solidFill>
              <a:srgbClr val="2A2032"/>
            </a:solidFill>
            <a:ln w="12700">
              <a:solidFill>
                <a:srgbClr val="A3E2C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EAE905-5D2B-2935-6215-31377189F482}"/>
              </a:ext>
            </a:extLst>
          </p:cNvPr>
          <p:cNvGrpSpPr/>
          <p:nvPr/>
        </p:nvGrpSpPr>
        <p:grpSpPr>
          <a:xfrm>
            <a:off x="5148072" y="464916"/>
            <a:ext cx="5029200" cy="5029200"/>
            <a:chOff x="4679829" y="-1010802"/>
            <a:chExt cx="5029200" cy="5029200"/>
          </a:xfrm>
        </p:grpSpPr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E6C2DC9D-269C-3772-E139-236B72A6B48C}"/>
                </a:ext>
              </a:extLst>
            </p:cNvPr>
            <p:cNvSpPr/>
            <p:nvPr/>
          </p:nvSpPr>
          <p:spPr>
            <a:xfrm>
              <a:off x="4679829" y="-1010802"/>
              <a:ext cx="5029200" cy="5029200"/>
            </a:xfrm>
            <a:prstGeom prst="ellipse">
              <a:avLst/>
            </a:prstGeom>
            <a:solidFill>
              <a:srgbClr val="1F1625"/>
            </a:solidFill>
            <a:ln w="12700">
              <a:solidFill>
                <a:srgbClr val="A3E2C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5CB0DF9C-5A78-C00A-0426-6CF564713183}"/>
                </a:ext>
              </a:extLst>
            </p:cNvPr>
            <p:cNvSpPr/>
            <p:nvPr/>
          </p:nvSpPr>
          <p:spPr>
            <a:xfrm>
              <a:off x="5137029" y="-553602"/>
              <a:ext cx="4114800" cy="4114800"/>
            </a:xfrm>
            <a:prstGeom prst="ellipse">
              <a:avLst/>
            </a:prstGeom>
            <a:solidFill>
              <a:srgbClr val="2A2032"/>
            </a:solidFill>
            <a:ln w="12700">
              <a:solidFill>
                <a:srgbClr val="A3E2C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</p:grpSp>
      <p:sp>
        <p:nvSpPr>
          <p:cNvPr id="5" name="Text 2"/>
          <p:cNvSpPr/>
          <p:nvPr/>
        </p:nvSpPr>
        <p:spPr>
          <a:xfrm>
            <a:off x="502920" y="493680"/>
            <a:ext cx="5806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Sorting &amp; Recalculation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02920" y="1104414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macro fires instantly! It pushes the record into the master database at the top row while the dashboard </a:t>
            </a:r>
            <a:r>
              <a:rPr lang="en-US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updates the </a:t>
            </a:r>
            <a:r>
              <a:rPr lang="en-US" dirty="0">
                <a:solidFill>
                  <a:srgbClr val="FFD7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Chittagong metric to 42,833</a:t>
            </a:r>
            <a:r>
              <a:rPr lang="en-US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scaling its </a:t>
            </a:r>
            <a:r>
              <a:rPr lang="en-US" dirty="0">
                <a:solidFill>
                  <a:srgbClr val="FFD7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 slice up to 7.5%.</a:t>
            </a:r>
            <a:endParaRPr lang="en-US" dirty="0">
              <a:solidFill>
                <a:srgbClr val="FFD70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40032CD-CD34-E5E3-D8BD-8DBBC2B66164}"/>
              </a:ext>
            </a:extLst>
          </p:cNvPr>
          <p:cNvGrpSpPr/>
          <p:nvPr/>
        </p:nvGrpSpPr>
        <p:grpSpPr>
          <a:xfrm>
            <a:off x="576072" y="2624328"/>
            <a:ext cx="6163056" cy="2721960"/>
            <a:chOff x="576072" y="2880360"/>
            <a:chExt cx="6163056" cy="2721960"/>
          </a:xfrm>
        </p:grpSpPr>
        <p:sp>
          <p:nvSpPr>
            <p:cNvPr id="7" name="Shape 4"/>
            <p:cNvSpPr/>
            <p:nvPr/>
          </p:nvSpPr>
          <p:spPr>
            <a:xfrm>
              <a:off x="576072" y="2880360"/>
              <a:ext cx="6163056" cy="2721960"/>
            </a:xfrm>
            <a:prstGeom prst="roundRect">
              <a:avLst>
                <a:gd name="adj" fmla="val 3023"/>
              </a:avLst>
            </a:prstGeom>
            <a:solidFill>
              <a:srgbClr val="2A2032"/>
            </a:solidFill>
            <a:ln/>
            <a:effectLst>
              <a:outerShdw blurRad="177800" dist="50800" dir="5400000" algn="bl" rotWithShape="0">
                <a:srgbClr val="000000">
                  <a:alpha val="32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8" name="Image 1" descr="/home/claude/pptx_project/images/D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240" y="3081528"/>
              <a:ext cx="5760720" cy="2319624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4A3AFB-8393-D814-669C-81208469BD28}"/>
              </a:ext>
            </a:extLst>
          </p:cNvPr>
          <p:cNvGrpSpPr/>
          <p:nvPr/>
        </p:nvGrpSpPr>
        <p:grpSpPr>
          <a:xfrm>
            <a:off x="576072" y="5641944"/>
            <a:ext cx="6158649" cy="3008376"/>
            <a:chOff x="578275" y="5830920"/>
            <a:chExt cx="6158649" cy="3008376"/>
          </a:xfrm>
        </p:grpSpPr>
        <p:sp>
          <p:nvSpPr>
            <p:cNvPr id="9" name="Shape 5"/>
            <p:cNvSpPr/>
            <p:nvPr/>
          </p:nvSpPr>
          <p:spPr>
            <a:xfrm>
              <a:off x="578275" y="5830920"/>
              <a:ext cx="6158649" cy="3008376"/>
            </a:xfrm>
            <a:prstGeom prst="roundRect">
              <a:avLst>
                <a:gd name="adj" fmla="val 2736"/>
              </a:avLst>
            </a:prstGeom>
            <a:solidFill>
              <a:srgbClr val="2A2032"/>
            </a:solidFill>
            <a:ln/>
            <a:effectLst>
              <a:outerShdw blurRad="177800" dist="50800" dir="5400000" algn="bl" rotWithShape="0">
                <a:srgbClr val="000000">
                  <a:alpha val="32000"/>
                </a:srgbClr>
              </a:outerShdw>
            </a:effectLst>
          </p:spPr>
          <p:txBody>
            <a:bodyPr/>
            <a:lstStyle/>
            <a:p>
              <a:endParaRPr lang="en-001"/>
            </a:p>
          </p:txBody>
        </p:sp>
        <p:pic>
          <p:nvPicPr>
            <p:cNvPr id="10" name="Image 2" descr="/home/claude/pptx_project/images/DS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443" y="6032088"/>
              <a:ext cx="5756313" cy="2606040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DA02752-F09A-076E-FAA0-434D02359F8E}"/>
              </a:ext>
            </a:extLst>
          </p:cNvPr>
          <p:cNvSpPr/>
          <p:nvPr/>
        </p:nvSpPr>
        <p:spPr>
          <a:xfrm>
            <a:off x="-121920" y="9022080"/>
            <a:ext cx="7680960" cy="8412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91A6AA25-E9F8-424C-3AAB-E64E4B7D88D6}"/>
              </a:ext>
            </a:extLst>
          </p:cNvPr>
          <p:cNvGrpSpPr/>
          <p:nvPr/>
        </p:nvGrpSpPr>
        <p:grpSpPr>
          <a:xfrm>
            <a:off x="4679829" y="-1010802"/>
            <a:ext cx="5029200" cy="5029200"/>
            <a:chOff x="4679829" y="-1010802"/>
            <a:chExt cx="5029200" cy="5029200"/>
          </a:xfrm>
        </p:grpSpPr>
        <p:sp>
          <p:nvSpPr>
            <p:cNvPr id="23" name="Shape 6">
              <a:extLst>
                <a:ext uri="{FF2B5EF4-FFF2-40B4-BE49-F238E27FC236}">
                  <a16:creationId xmlns:a16="http://schemas.microsoft.com/office/drawing/2014/main" id="{AA67D42C-9B72-700D-B8B4-216BED2BA4C2}"/>
                </a:ext>
              </a:extLst>
            </p:cNvPr>
            <p:cNvSpPr/>
            <p:nvPr/>
          </p:nvSpPr>
          <p:spPr>
            <a:xfrm>
              <a:off x="4679829" y="-1010802"/>
              <a:ext cx="5029200" cy="5029200"/>
            </a:xfrm>
            <a:prstGeom prst="ellipse">
              <a:avLst/>
            </a:prstGeom>
            <a:solidFill>
              <a:srgbClr val="1F1625"/>
            </a:solidFill>
            <a:ln w="12700">
              <a:solidFill>
                <a:srgbClr val="A3E2C9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D5DBCF79-F901-5B3B-D116-AE83845F0FB6}"/>
                </a:ext>
              </a:extLst>
            </p:cNvPr>
            <p:cNvSpPr/>
            <p:nvPr/>
          </p:nvSpPr>
          <p:spPr>
            <a:xfrm>
              <a:off x="5137029" y="-553602"/>
              <a:ext cx="4114800" cy="4114800"/>
            </a:xfrm>
            <a:prstGeom prst="ellipse">
              <a:avLst/>
            </a:prstGeom>
            <a:solidFill>
              <a:srgbClr val="2A2032"/>
            </a:solidFill>
            <a:ln w="12700">
              <a:solidFill>
                <a:srgbClr val="A3E2C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001"/>
            </a:p>
          </p:txBody>
        </p:sp>
      </p:grpSp>
      <p:sp>
        <p:nvSpPr>
          <p:cNvPr id="5" name="Text 2"/>
          <p:cNvSpPr/>
          <p:nvPr/>
        </p:nvSpPr>
        <p:spPr>
          <a:xfrm>
            <a:off x="502920" y="859536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Operational Impact of Automation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6309360" cy="1691640"/>
          </a:xfrm>
          <a:prstGeom prst="roundRect">
            <a:avLst>
              <a:gd name="adj" fmla="val 6486"/>
            </a:avLst>
          </a:prstGeom>
          <a:solidFill>
            <a:srgbClr val="2A2032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7" name="Shape 4"/>
          <p:cNvSpPr/>
          <p:nvPr/>
        </p:nvSpPr>
        <p:spPr>
          <a:xfrm>
            <a:off x="758952" y="2482596"/>
            <a:ext cx="658368" cy="658368"/>
          </a:xfrm>
          <a:prstGeom prst="ellipse">
            <a:avLst/>
          </a:prstGeom>
          <a:solidFill>
            <a:srgbClr val="251B2D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5"/>
          <p:cNvSpPr/>
          <p:nvPr/>
        </p:nvSpPr>
        <p:spPr>
          <a:xfrm>
            <a:off x="1673352" y="2241804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Data Corruption</a:t>
            </a:r>
            <a:endParaRPr lang="en-US" sz="2000" dirty="0">
              <a:solidFill>
                <a:srgbClr val="FFD700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1673352" y="2612136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Field users never touch master formulas or database rows directly.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02920" y="3913632"/>
            <a:ext cx="6309360" cy="1691640"/>
          </a:xfrm>
          <a:prstGeom prst="roundRect">
            <a:avLst>
              <a:gd name="adj" fmla="val 6486"/>
            </a:avLst>
          </a:prstGeom>
          <a:solidFill>
            <a:srgbClr val="2A2032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2" name="Shape 8"/>
          <p:cNvSpPr/>
          <p:nvPr/>
        </p:nvSpPr>
        <p:spPr>
          <a:xfrm>
            <a:off x="758952" y="4430268"/>
            <a:ext cx="658368" cy="658368"/>
          </a:xfrm>
          <a:prstGeom prst="ellipse">
            <a:avLst/>
          </a:prstGeom>
          <a:solidFill>
            <a:srgbClr val="251B2D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9"/>
          <p:cNvSpPr/>
          <p:nvPr/>
        </p:nvSpPr>
        <p:spPr>
          <a:xfrm>
            <a:off x="1673352" y="4274430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Savings</a:t>
            </a:r>
            <a:endParaRPr lang="en-US" sz="2000" dirty="0">
              <a:solidFill>
                <a:srgbClr val="FFD700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1673352" y="4645152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manual copying, pasting, sorting, and structural formatting.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02920" y="5861304"/>
            <a:ext cx="6309360" cy="1691640"/>
          </a:xfrm>
          <a:prstGeom prst="roundRect">
            <a:avLst>
              <a:gd name="adj" fmla="val 6486"/>
            </a:avLst>
          </a:prstGeom>
          <a:solidFill>
            <a:srgbClr val="2A2032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7" name="Shape 12"/>
          <p:cNvSpPr/>
          <p:nvPr/>
        </p:nvSpPr>
        <p:spPr>
          <a:xfrm>
            <a:off x="758952" y="6377940"/>
            <a:ext cx="658368" cy="658368"/>
          </a:xfrm>
          <a:prstGeom prst="ellipse">
            <a:avLst/>
          </a:prstGeom>
          <a:solidFill>
            <a:srgbClr val="251B2D"/>
          </a:solidFill>
          <a:ln w="190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001" dirty="0"/>
          </a:p>
        </p:txBody>
      </p:sp>
      <p:sp>
        <p:nvSpPr>
          <p:cNvPr id="19" name="Text 13"/>
          <p:cNvSpPr/>
          <p:nvPr/>
        </p:nvSpPr>
        <p:spPr>
          <a:xfrm>
            <a:off x="1673352" y="6222492"/>
            <a:ext cx="4882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D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Visibility</a:t>
            </a:r>
            <a:endParaRPr lang="en-US" sz="2000" dirty="0">
              <a:solidFill>
                <a:srgbClr val="FFD700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1673352" y="6592824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DCE2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Management metrics adjust instantly with every mouse click.</a:t>
            </a:r>
            <a:endParaRPr lang="en-US" sz="2000" dirty="0"/>
          </a:p>
        </p:txBody>
      </p:sp>
      <p:pic>
        <p:nvPicPr>
          <p:cNvPr id="26" name="Graphic 25" descr="Upward trend with solid fill">
            <a:extLst>
              <a:ext uri="{FF2B5EF4-FFF2-40B4-BE49-F238E27FC236}">
                <a16:creationId xmlns:a16="http://schemas.microsoft.com/office/drawing/2014/main" id="{5AADF420-976E-F364-2E34-1563CF52F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536" y="6478524"/>
            <a:ext cx="457200" cy="457200"/>
          </a:xfrm>
          <a:prstGeom prst="rect">
            <a:avLst/>
          </a:prstGeom>
        </p:spPr>
      </p:pic>
      <p:pic>
        <p:nvPicPr>
          <p:cNvPr id="28" name="Graphic 27" descr="Hourglass Full with solid fill">
            <a:extLst>
              <a:ext uri="{FF2B5EF4-FFF2-40B4-BE49-F238E27FC236}">
                <a16:creationId xmlns:a16="http://schemas.microsoft.com/office/drawing/2014/main" id="{C788AA97-81EE-9FA7-0A31-4DDE830BF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616" y="4540320"/>
            <a:ext cx="429120" cy="429120"/>
          </a:xfrm>
          <a:prstGeom prst="rect">
            <a:avLst/>
          </a:prstGeom>
        </p:spPr>
      </p:pic>
      <p:pic>
        <p:nvPicPr>
          <p:cNvPr id="30" name="Graphic 29" descr="Shield Tick with solid fill">
            <a:extLst>
              <a:ext uri="{FF2B5EF4-FFF2-40B4-BE49-F238E27FC236}">
                <a16:creationId xmlns:a16="http://schemas.microsoft.com/office/drawing/2014/main" id="{7AE78A5F-99E7-04F5-00A9-FDC36FB86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436" y="2545080"/>
            <a:ext cx="533400" cy="5334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F134F75-1662-B72B-3D76-F1AFE5367D28}"/>
              </a:ext>
            </a:extLst>
          </p:cNvPr>
          <p:cNvSpPr/>
          <p:nvPr/>
        </p:nvSpPr>
        <p:spPr>
          <a:xfrm>
            <a:off x="-121920" y="9022080"/>
            <a:ext cx="7680960" cy="8412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253</Words>
  <Application>Microsoft Office PowerPoint</Application>
  <PresentationFormat>Custom</PresentationFormat>
  <Paragraphs>32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Based Sales Tracker — Automation Case Study</dc:title>
  <dc:subject>PptxGenJS Presentation</dc:subject>
  <dc:creator>Data Analytics Journey</dc:creator>
  <cp:lastModifiedBy>Dipan Nandi</cp:lastModifiedBy>
  <cp:revision>2</cp:revision>
  <dcterms:created xsi:type="dcterms:W3CDTF">2026-07-02T22:07:13Z</dcterms:created>
  <dcterms:modified xsi:type="dcterms:W3CDTF">2026-07-02T23:22:16Z</dcterms:modified>
</cp:coreProperties>
</file>