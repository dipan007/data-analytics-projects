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5" r:id="rId4"/>
    <p:sldId id="266" r:id="rId5"/>
    <p:sldId id="260" r:id="rId6"/>
    <p:sldId id="261" r:id="rId7"/>
    <p:sldId id="267" r:id="rId8"/>
    <p:sldId id="268" r:id="rId9"/>
    <p:sldId id="263" r:id="rId10"/>
    <p:sldId id="257" r:id="rId11"/>
  </p:sldIdLst>
  <p:sldSz cx="10001250" cy="12858750"/>
  <p:notesSz cx="12858750" cy="100012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9F67"/>
    <a:srgbClr val="241A18"/>
    <a:srgbClr val="1A1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172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337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05840" y="1280160"/>
            <a:ext cx="822960" cy="82296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 rot="2700000">
            <a:off x="7955280" y="2103120"/>
            <a:ext cx="1188720" cy="118872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 rot="2700000">
            <a:off x="1828800" y="3291840"/>
            <a:ext cx="548640" cy="54864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 rot="2700000">
            <a:off x="8503920" y="4937760"/>
            <a:ext cx="731520" cy="73152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 rot="2700000">
            <a:off x="548640" y="5943600"/>
            <a:ext cx="1005840" cy="100584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 rot="2700000">
            <a:off x="7223760" y="640080"/>
            <a:ext cx="457200" cy="45720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Shape 6"/>
          <p:cNvSpPr/>
          <p:nvPr/>
        </p:nvSpPr>
        <p:spPr>
          <a:xfrm rot="2700000">
            <a:off x="3108960" y="822960"/>
            <a:ext cx="502920" cy="50292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Shape 7"/>
          <p:cNvSpPr/>
          <p:nvPr/>
        </p:nvSpPr>
        <p:spPr>
          <a:xfrm rot="2700000">
            <a:off x="8869680" y="8046720"/>
            <a:ext cx="822960" cy="82296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Shape 8"/>
          <p:cNvSpPr/>
          <p:nvPr/>
        </p:nvSpPr>
        <p:spPr>
          <a:xfrm rot="2700000">
            <a:off x="822960" y="9326880"/>
            <a:ext cx="640080" cy="64008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Shape 9"/>
          <p:cNvSpPr/>
          <p:nvPr/>
        </p:nvSpPr>
        <p:spPr>
          <a:xfrm rot="2700000">
            <a:off x="7680960" y="10972800"/>
            <a:ext cx="914400" cy="91440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Shape 10"/>
          <p:cNvSpPr/>
          <p:nvPr/>
        </p:nvSpPr>
        <p:spPr>
          <a:xfrm rot="2700000">
            <a:off x="1463040" y="11612880"/>
            <a:ext cx="548640" cy="54864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Shape 11"/>
          <p:cNvSpPr/>
          <p:nvPr/>
        </p:nvSpPr>
        <p:spPr>
          <a:xfrm rot="2700000">
            <a:off x="5120640" y="12252960"/>
            <a:ext cx="457200" cy="45720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Shape 12"/>
          <p:cNvSpPr/>
          <p:nvPr/>
        </p:nvSpPr>
        <p:spPr>
          <a:xfrm rot="2700000">
            <a:off x="5852160" y="5394960"/>
            <a:ext cx="411480" cy="41148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Shape 13"/>
          <p:cNvSpPr/>
          <p:nvPr/>
        </p:nvSpPr>
        <p:spPr>
          <a:xfrm rot="2700000">
            <a:off x="4206240" y="11064240"/>
            <a:ext cx="365760" cy="365760"/>
          </a:xfrm>
          <a:prstGeom prst="rect">
            <a:avLst/>
          </a:prstGeom>
          <a:ln w="15875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4"/>
          <p:cNvSpPr/>
          <p:nvPr/>
        </p:nvSpPr>
        <p:spPr>
          <a:xfrm>
            <a:off x="651510" y="4014216"/>
            <a:ext cx="8629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POWER QUERY CASE STUDY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862965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7200" b="1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CHAOS</a:t>
            </a:r>
            <a:endParaRPr lang="en-US" sz="720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7200" b="1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CLARITY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-337006" y="6958584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DDA7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 Cleaned 2 Messy Datasets Using Power Query</a:t>
            </a:r>
            <a:endParaRPr lang="en-US" sz="2800" b="1" dirty="0"/>
          </a:p>
        </p:txBody>
      </p:sp>
      <p:sp>
        <p:nvSpPr>
          <p:cNvPr id="19" name="Shape 17"/>
          <p:cNvSpPr/>
          <p:nvPr/>
        </p:nvSpPr>
        <p:spPr>
          <a:xfrm>
            <a:off x="2623185" y="8092440"/>
            <a:ext cx="146304" cy="146304"/>
          </a:xfrm>
          <a:prstGeom prst="ellipse">
            <a:avLst/>
          </a:prstGeom>
          <a:solidFill>
            <a:srgbClr val="B8A99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0" name="Shape 18"/>
          <p:cNvSpPr/>
          <p:nvPr/>
        </p:nvSpPr>
        <p:spPr>
          <a:xfrm>
            <a:off x="3446145" y="8275320"/>
            <a:ext cx="100584" cy="100584"/>
          </a:xfrm>
          <a:prstGeom prst="ellipse">
            <a:avLst/>
          </a:prstGeom>
          <a:solidFill>
            <a:srgbClr val="DDA7A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1" name="Shape 19"/>
          <p:cNvSpPr/>
          <p:nvPr/>
        </p:nvSpPr>
        <p:spPr>
          <a:xfrm>
            <a:off x="4497705" y="8046720"/>
            <a:ext cx="128016" cy="128016"/>
          </a:xfrm>
          <a:prstGeom prst="ellipse">
            <a:avLst/>
          </a:prstGeom>
          <a:solidFill>
            <a:srgbClr val="B8A99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2" name="Shape 20"/>
          <p:cNvSpPr/>
          <p:nvPr/>
        </p:nvSpPr>
        <p:spPr>
          <a:xfrm>
            <a:off x="5366385" y="8321040"/>
            <a:ext cx="91440" cy="91440"/>
          </a:xfrm>
          <a:prstGeom prst="ellipse">
            <a:avLst/>
          </a:prstGeom>
          <a:solidFill>
            <a:srgbClr val="DDA7A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3" name="Shape 21"/>
          <p:cNvSpPr/>
          <p:nvPr/>
        </p:nvSpPr>
        <p:spPr>
          <a:xfrm>
            <a:off x="6372225" y="8092440"/>
            <a:ext cx="137160" cy="137160"/>
          </a:xfrm>
          <a:prstGeom prst="ellipse">
            <a:avLst/>
          </a:prstGeom>
          <a:solidFill>
            <a:srgbClr val="B8A99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4" name="Shape 22"/>
          <p:cNvSpPr/>
          <p:nvPr/>
        </p:nvSpPr>
        <p:spPr>
          <a:xfrm>
            <a:off x="7286625" y="8229600"/>
            <a:ext cx="109728" cy="109728"/>
          </a:xfrm>
          <a:prstGeom prst="ellipse">
            <a:avLst/>
          </a:prstGeom>
          <a:solidFill>
            <a:srgbClr val="DDA7A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5" name="Shape 23"/>
          <p:cNvSpPr/>
          <p:nvPr/>
        </p:nvSpPr>
        <p:spPr>
          <a:xfrm>
            <a:off x="4177665" y="8503920"/>
            <a:ext cx="82296" cy="82296"/>
          </a:xfrm>
          <a:prstGeom prst="ellipse">
            <a:avLst/>
          </a:prstGeom>
          <a:solidFill>
            <a:srgbClr val="B8A99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6" name="Shape 24"/>
          <p:cNvSpPr/>
          <p:nvPr/>
        </p:nvSpPr>
        <p:spPr>
          <a:xfrm>
            <a:off x="5869305" y="8503920"/>
            <a:ext cx="82296" cy="82296"/>
          </a:xfrm>
          <a:prstGeom prst="ellipse">
            <a:avLst/>
          </a:prstGeom>
          <a:solidFill>
            <a:srgbClr val="DDA7A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7" name="Shape 25"/>
          <p:cNvSpPr/>
          <p:nvPr/>
        </p:nvSpPr>
        <p:spPr>
          <a:xfrm>
            <a:off x="4131945" y="8915400"/>
            <a:ext cx="1737360" cy="1737360"/>
          </a:xfrm>
          <a:prstGeom prst="ellipse">
            <a:avLst/>
          </a:prstGeom>
          <a:solidFill>
            <a:srgbClr val="241A18"/>
          </a:solidFill>
          <a:ln w="19050">
            <a:solidFill>
              <a:srgbClr val="3A2C27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pic>
        <p:nvPicPr>
          <p:cNvPr id="28" name="Image 0" descr="/home/claude/project/icons/filter_rose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77" y="9345168"/>
            <a:ext cx="768096" cy="768096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2668905" y="1092708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E0A96D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0" name="Shape 27"/>
          <p:cNvSpPr/>
          <p:nvPr/>
        </p:nvSpPr>
        <p:spPr>
          <a:xfrm>
            <a:off x="3565017" y="1092708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E0A96D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1" name="Shape 28"/>
          <p:cNvSpPr/>
          <p:nvPr/>
        </p:nvSpPr>
        <p:spPr>
          <a:xfrm>
            <a:off x="4461129" y="1092708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E0A96D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2" name="Shape 29"/>
          <p:cNvSpPr/>
          <p:nvPr/>
        </p:nvSpPr>
        <p:spPr>
          <a:xfrm>
            <a:off x="5357241" y="1092708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E0A96D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3" name="Shape 30"/>
          <p:cNvSpPr/>
          <p:nvPr/>
        </p:nvSpPr>
        <p:spPr>
          <a:xfrm>
            <a:off x="6253353" y="1092708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E0A96D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4" name="Shape 31"/>
          <p:cNvSpPr/>
          <p:nvPr/>
        </p:nvSpPr>
        <p:spPr>
          <a:xfrm>
            <a:off x="7149465" y="1092708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E0A96D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5" name="Text 32"/>
          <p:cNvSpPr/>
          <p:nvPr/>
        </p:nvSpPr>
        <p:spPr>
          <a:xfrm>
            <a:off x="685800" y="12024360"/>
            <a:ext cx="86296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A9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SWIPE TO SEE THE TRANSFORMATION  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">
            <a:extLst>
              <a:ext uri="{FF2B5EF4-FFF2-40B4-BE49-F238E27FC236}">
                <a16:creationId xmlns:a16="http://schemas.microsoft.com/office/drawing/2014/main" id="{CCF39A86-1117-B7F9-8A6D-BCE9BCADF75C}"/>
              </a:ext>
            </a:extLst>
          </p:cNvPr>
          <p:cNvSpPr/>
          <p:nvPr/>
        </p:nvSpPr>
        <p:spPr>
          <a:xfrm rot="2700000">
            <a:off x="-1897782" y="7808146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28E25784-A442-7B03-D1A0-962682A21FED}"/>
              </a:ext>
            </a:extLst>
          </p:cNvPr>
          <p:cNvSpPr/>
          <p:nvPr/>
        </p:nvSpPr>
        <p:spPr>
          <a:xfrm rot="2700000">
            <a:off x="7477865" y="-455979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Text 0"/>
          <p:cNvSpPr/>
          <p:nvPr/>
        </p:nvSpPr>
        <p:spPr>
          <a:xfrm>
            <a:off x="685800" y="833583"/>
            <a:ext cx="8629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016463"/>
            <a:ext cx="86296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kern="0" spc="5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EMPLOYEE RECORDS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34840" y="1758690"/>
            <a:ext cx="9079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goal was clear: establish a proper directory, isolate names, handle missing values, and generate unique corporate IDs.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037B80-7226-885F-46AD-F62F4724214D}"/>
              </a:ext>
            </a:extLst>
          </p:cNvPr>
          <p:cNvGrpSpPr/>
          <p:nvPr/>
        </p:nvGrpSpPr>
        <p:grpSpPr>
          <a:xfrm>
            <a:off x="500656" y="3029837"/>
            <a:ext cx="9079992" cy="4341370"/>
            <a:chOff x="630936" y="3286207"/>
            <a:chExt cx="8739378" cy="3727038"/>
          </a:xfrm>
        </p:grpSpPr>
        <p:sp>
          <p:nvSpPr>
            <p:cNvPr id="5" name="Shape 3"/>
            <p:cNvSpPr/>
            <p:nvPr/>
          </p:nvSpPr>
          <p:spPr>
            <a:xfrm>
              <a:off x="630936" y="3286207"/>
              <a:ext cx="8739378" cy="3727038"/>
            </a:xfrm>
            <a:prstGeom prst="roundRect">
              <a:avLst>
                <a:gd name="adj" fmla="val 3180"/>
              </a:avLst>
            </a:prstGeom>
            <a:solidFill>
              <a:srgbClr val="FFFFFF"/>
            </a:solidFill>
            <a:ln/>
            <a:effectLst>
              <a:outerShdw blurRad="152400" dist="508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6" name="Image 0" descr="/home/claude/project/images/DQ1.png"/>
            <p:cNvPicPr>
              <a:picLocks noChangeAspect="1"/>
            </p:cNvPicPr>
            <p:nvPr/>
          </p:nvPicPr>
          <p:blipFill>
            <a:blip r:embed="rId3"/>
            <a:srcRect t="17095"/>
            <a:stretch>
              <a:fillRect/>
            </a:stretch>
          </p:blipFill>
          <p:spPr>
            <a:xfrm>
              <a:off x="763524" y="3431394"/>
              <a:ext cx="8474202" cy="3455489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630936" y="7515651"/>
            <a:ext cx="86296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D49F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Cleaning criteria defined upfront</a:t>
            </a:r>
            <a:endParaRPr lang="en-US" sz="2000" b="1" dirty="0">
              <a:solidFill>
                <a:srgbClr val="D49F67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E900E4-8D86-F85C-2BDA-0E164DAFD0D9}"/>
              </a:ext>
            </a:extLst>
          </p:cNvPr>
          <p:cNvGrpSpPr/>
          <p:nvPr/>
        </p:nvGrpSpPr>
        <p:grpSpPr>
          <a:xfrm>
            <a:off x="557659" y="8020632"/>
            <a:ext cx="9079992" cy="4176558"/>
            <a:chOff x="630936" y="6995727"/>
            <a:chExt cx="8739378" cy="2999798"/>
          </a:xfrm>
        </p:grpSpPr>
        <p:sp>
          <p:nvSpPr>
            <p:cNvPr id="8" name="Shape 5"/>
            <p:cNvSpPr/>
            <p:nvPr/>
          </p:nvSpPr>
          <p:spPr>
            <a:xfrm>
              <a:off x="630936" y="6995727"/>
              <a:ext cx="8739378" cy="2999798"/>
            </a:xfrm>
            <a:prstGeom prst="roundRect">
              <a:avLst>
                <a:gd name="adj" fmla="val 1663"/>
              </a:avLst>
            </a:prstGeom>
            <a:solidFill>
              <a:srgbClr val="FFFFFF"/>
            </a:solidFill>
            <a:ln/>
            <a:effectLst>
              <a:outerShdw blurRad="152400" dist="508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9" name="Image 1" descr="/home/claude/project/images/D1.png"/>
            <p:cNvPicPr>
              <a:picLocks noChangeAspect="1"/>
            </p:cNvPicPr>
            <p:nvPr/>
          </p:nvPicPr>
          <p:blipFill>
            <a:blip r:embed="rId4"/>
            <a:srcRect b="42741"/>
            <a:stretch>
              <a:fillRect/>
            </a:stretch>
          </p:blipFill>
          <p:spPr>
            <a:xfrm>
              <a:off x="685800" y="7050591"/>
              <a:ext cx="8629650" cy="2770065"/>
            </a:xfrm>
            <a:prstGeom prst="rect">
              <a:avLst/>
            </a:prstGeom>
          </p:spPr>
        </p:pic>
      </p:grpSp>
      <p:sp>
        <p:nvSpPr>
          <p:cNvPr id="10" name="Text 6"/>
          <p:cNvSpPr/>
          <p:nvPr/>
        </p:nvSpPr>
        <p:spPr>
          <a:xfrm>
            <a:off x="813243" y="12294671"/>
            <a:ext cx="86296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D49F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data: generic column names, blanks, duplicates</a:t>
            </a:r>
            <a:endParaRPr lang="en-US" sz="2000" b="1" dirty="0">
              <a:solidFill>
                <a:srgbClr val="D49F67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C2967A-A253-E13A-8DD5-5EFA00EEF6A8}"/>
              </a:ext>
            </a:extLst>
          </p:cNvPr>
          <p:cNvSpPr/>
          <p:nvPr/>
        </p:nvSpPr>
        <p:spPr>
          <a:xfrm>
            <a:off x="782830" y="8375904"/>
            <a:ext cx="8784012" cy="859536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">
            <a:extLst>
              <a:ext uri="{FF2B5EF4-FFF2-40B4-BE49-F238E27FC236}">
                <a16:creationId xmlns:a16="http://schemas.microsoft.com/office/drawing/2014/main" id="{A668A067-B11A-1B9C-8B0F-8C33638B34F8}"/>
              </a:ext>
            </a:extLst>
          </p:cNvPr>
          <p:cNvSpPr/>
          <p:nvPr/>
        </p:nvSpPr>
        <p:spPr>
          <a:xfrm rot="2700000">
            <a:off x="7360289" y="-408286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51679ABF-C70F-2D79-379C-8C2C897AF0BC}"/>
              </a:ext>
            </a:extLst>
          </p:cNvPr>
          <p:cNvSpPr/>
          <p:nvPr/>
        </p:nvSpPr>
        <p:spPr>
          <a:xfrm rot="2700000">
            <a:off x="-2411598" y="7849074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Text 0"/>
          <p:cNvSpPr/>
          <p:nvPr/>
        </p:nvSpPr>
        <p:spPr>
          <a:xfrm>
            <a:off x="685800" y="868680"/>
            <a:ext cx="8629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E0A96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799" y="1051560"/>
            <a:ext cx="86296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 THE STRUCTURE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799" y="2044255"/>
            <a:ext cx="862965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Promoted headers, removed duplicates, and filtered out blank rows.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Replaced null salaries with 0 and empty emails with “No Email.”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0BAA50-0F10-93A1-878E-D972A5E3E805}"/>
              </a:ext>
            </a:extLst>
          </p:cNvPr>
          <p:cNvGrpSpPr/>
          <p:nvPr/>
        </p:nvGrpSpPr>
        <p:grpSpPr>
          <a:xfrm>
            <a:off x="484631" y="3095815"/>
            <a:ext cx="8830818" cy="3887915"/>
            <a:chOff x="685800" y="4343400"/>
            <a:chExt cx="8629650" cy="3640455"/>
          </a:xfrm>
        </p:grpSpPr>
        <p:sp>
          <p:nvSpPr>
            <p:cNvPr id="5" name="Shape 3"/>
            <p:cNvSpPr/>
            <p:nvPr/>
          </p:nvSpPr>
          <p:spPr>
            <a:xfrm>
              <a:off x="685800" y="4343400"/>
              <a:ext cx="8629650" cy="3640455"/>
            </a:xfrm>
            <a:prstGeom prst="roundRect">
              <a:avLst>
                <a:gd name="adj" fmla="val 2512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886968" y="454456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A111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Image 0" descr="/home/claude/project/images/D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969" y="4544568"/>
              <a:ext cx="8227314" cy="3191256"/>
            </a:xfrm>
            <a:prstGeom prst="rect">
              <a:avLst/>
            </a:prstGeom>
          </p:spPr>
        </p:pic>
      </p:grpSp>
      <p:sp>
        <p:nvSpPr>
          <p:cNvPr id="10" name="Text 7"/>
          <p:cNvSpPr/>
          <p:nvPr/>
        </p:nvSpPr>
        <p:spPr>
          <a:xfrm>
            <a:off x="2441448" y="7108377"/>
            <a:ext cx="82273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D49F6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Splitting the name into two parts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D49F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B856D0-1F89-5244-0BAB-796AFBF9B904}"/>
              </a:ext>
            </a:extLst>
          </p:cNvPr>
          <p:cNvGrpSpPr/>
          <p:nvPr/>
        </p:nvGrpSpPr>
        <p:grpSpPr>
          <a:xfrm>
            <a:off x="725922" y="7650967"/>
            <a:ext cx="8629650" cy="4389834"/>
            <a:chOff x="484631" y="7564659"/>
            <a:chExt cx="8629650" cy="3640455"/>
          </a:xfrm>
        </p:grpSpPr>
        <p:sp>
          <p:nvSpPr>
            <p:cNvPr id="11" name="Shape 8"/>
            <p:cNvSpPr/>
            <p:nvPr/>
          </p:nvSpPr>
          <p:spPr>
            <a:xfrm>
              <a:off x="484631" y="7564659"/>
              <a:ext cx="8629650" cy="3640455"/>
            </a:xfrm>
            <a:prstGeom prst="roundRect">
              <a:avLst>
                <a:gd name="adj" fmla="val 2512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886968" y="8550783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A111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Image 1" descr="/home/claude/project/images/D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799" y="7710861"/>
              <a:ext cx="8183881" cy="3316803"/>
            </a:xfrm>
            <a:prstGeom prst="rect">
              <a:avLst/>
            </a:prstGeom>
          </p:spPr>
        </p:pic>
      </p:grpSp>
      <p:sp>
        <p:nvSpPr>
          <p:cNvPr id="16" name="Text 12"/>
          <p:cNvSpPr/>
          <p:nvPr/>
        </p:nvSpPr>
        <p:spPr>
          <a:xfrm>
            <a:off x="2679192" y="12096939"/>
            <a:ext cx="82273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D49F6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Replacing null salary values with 0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D49F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7442AB-52F0-4713-E0E8-CD525DADCF1F}"/>
              </a:ext>
            </a:extLst>
          </p:cNvPr>
          <p:cNvSpPr/>
          <p:nvPr/>
        </p:nvSpPr>
        <p:spPr>
          <a:xfrm>
            <a:off x="1512307" y="9108208"/>
            <a:ext cx="3488318" cy="2084047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00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DACFC7-C3B8-884E-D1B9-7FC405200CD0}"/>
              </a:ext>
            </a:extLst>
          </p:cNvPr>
          <p:cNvSpPr/>
          <p:nvPr/>
        </p:nvSpPr>
        <p:spPr>
          <a:xfrm>
            <a:off x="777988" y="3681186"/>
            <a:ext cx="1468638" cy="1413723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">
            <a:extLst>
              <a:ext uri="{FF2B5EF4-FFF2-40B4-BE49-F238E27FC236}">
                <a16:creationId xmlns:a16="http://schemas.microsoft.com/office/drawing/2014/main" id="{A44853C5-FB21-0566-7BA5-20E149F2755E}"/>
              </a:ext>
            </a:extLst>
          </p:cNvPr>
          <p:cNvSpPr/>
          <p:nvPr/>
        </p:nvSpPr>
        <p:spPr>
          <a:xfrm rot="2700000">
            <a:off x="5651005" y="1096677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75B9AD9A-6A08-75A1-EA2D-39A142E0EFDE}"/>
              </a:ext>
            </a:extLst>
          </p:cNvPr>
          <p:cNvSpPr/>
          <p:nvPr/>
        </p:nvSpPr>
        <p:spPr>
          <a:xfrm rot="2700000">
            <a:off x="7692403" y="10393884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Text 0"/>
          <p:cNvSpPr/>
          <p:nvPr/>
        </p:nvSpPr>
        <p:spPr>
          <a:xfrm>
            <a:off x="685800" y="595100"/>
            <a:ext cx="8629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E0A96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763524"/>
            <a:ext cx="86296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UNIQUE RECORDS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702096"/>
            <a:ext cx="862965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 full names into distinct First and Last Name columns.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an auto-incrementing Employee ID starting from 1001.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9A604D-C127-B5B2-92AA-F0D70BC3754B}"/>
              </a:ext>
            </a:extLst>
          </p:cNvPr>
          <p:cNvGrpSpPr/>
          <p:nvPr/>
        </p:nvGrpSpPr>
        <p:grpSpPr>
          <a:xfrm>
            <a:off x="257176" y="3072183"/>
            <a:ext cx="6347078" cy="4005273"/>
            <a:chOff x="685800" y="4343400"/>
            <a:chExt cx="5795010" cy="3640455"/>
          </a:xfrm>
        </p:grpSpPr>
        <p:sp>
          <p:nvSpPr>
            <p:cNvPr id="5" name="Shape 3"/>
            <p:cNvSpPr/>
            <p:nvPr/>
          </p:nvSpPr>
          <p:spPr>
            <a:xfrm>
              <a:off x="685800" y="4343400"/>
              <a:ext cx="5795010" cy="3640455"/>
            </a:xfrm>
            <a:prstGeom prst="roundRect">
              <a:avLst>
                <a:gd name="adj" fmla="val 2512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886968" y="454456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A111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Image 0" descr="/home/claude/project/images/D4_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968" y="4490847"/>
              <a:ext cx="5392674" cy="3320754"/>
            </a:xfrm>
            <a:prstGeom prst="rect">
              <a:avLst/>
            </a:prstGeom>
          </p:spPr>
        </p:pic>
      </p:grpSp>
      <p:sp>
        <p:nvSpPr>
          <p:cNvPr id="10" name="Text 7"/>
          <p:cNvSpPr/>
          <p:nvPr/>
        </p:nvSpPr>
        <p:spPr>
          <a:xfrm>
            <a:off x="1819656" y="7141464"/>
            <a:ext cx="53926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D49F6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Adding a custom index column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D49F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45F2EC-F6BD-43BC-8F03-B5D7C5536F7A}"/>
              </a:ext>
            </a:extLst>
          </p:cNvPr>
          <p:cNvGrpSpPr/>
          <p:nvPr/>
        </p:nvGrpSpPr>
        <p:grpSpPr>
          <a:xfrm>
            <a:off x="257176" y="7516368"/>
            <a:ext cx="6148450" cy="4719849"/>
            <a:chOff x="685800" y="8349615"/>
            <a:chExt cx="5795010" cy="3640455"/>
          </a:xfrm>
        </p:grpSpPr>
        <p:sp>
          <p:nvSpPr>
            <p:cNvPr id="11" name="Shape 8"/>
            <p:cNvSpPr/>
            <p:nvPr/>
          </p:nvSpPr>
          <p:spPr>
            <a:xfrm>
              <a:off x="685800" y="8349615"/>
              <a:ext cx="5795010" cy="3640455"/>
            </a:xfrm>
            <a:prstGeom prst="roundRect">
              <a:avLst>
                <a:gd name="adj" fmla="val 2512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886968" y="8550783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A111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Image 1" descr="/home/claude/project/images/D4_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6916" y="8543004"/>
              <a:ext cx="5392674" cy="3318310"/>
            </a:xfrm>
            <a:prstGeom prst="rect">
              <a:avLst/>
            </a:prstGeom>
          </p:spPr>
        </p:pic>
      </p:grpSp>
      <p:sp>
        <p:nvSpPr>
          <p:cNvPr id="16" name="Text 12"/>
          <p:cNvSpPr/>
          <p:nvPr/>
        </p:nvSpPr>
        <p:spPr>
          <a:xfrm>
            <a:off x="1819656" y="12311656"/>
            <a:ext cx="53926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i="1" dirty="0">
                <a:solidFill>
                  <a:srgbClr val="D49F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Starting the index at 1001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EC5235-2B4D-FA92-5E4C-C043BC61E7D1}"/>
              </a:ext>
            </a:extLst>
          </p:cNvPr>
          <p:cNvGrpSpPr/>
          <p:nvPr/>
        </p:nvGrpSpPr>
        <p:grpSpPr>
          <a:xfrm>
            <a:off x="6447955" y="3602736"/>
            <a:ext cx="3310979" cy="7013448"/>
            <a:chOff x="6846570" y="4343400"/>
            <a:chExt cx="2468880" cy="6506930"/>
          </a:xfrm>
        </p:grpSpPr>
        <p:sp>
          <p:nvSpPr>
            <p:cNvPr id="17" name="Shape 13"/>
            <p:cNvSpPr/>
            <p:nvPr/>
          </p:nvSpPr>
          <p:spPr>
            <a:xfrm>
              <a:off x="6846570" y="4343400"/>
              <a:ext cx="2468880" cy="6506930"/>
            </a:xfrm>
            <a:prstGeom prst="roundRect">
              <a:avLst>
                <a:gd name="adj" fmla="val 4444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8" name="Image 2" descr="/home/claude/project/icons/layer_espress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9842" y="4599432"/>
              <a:ext cx="402336" cy="402336"/>
            </a:xfrm>
            <a:prstGeom prst="rect">
              <a:avLst/>
            </a:prstGeom>
          </p:spPr>
        </p:pic>
        <p:pic>
          <p:nvPicPr>
            <p:cNvPr id="20" name="Image 3" descr="/home/claude/project/images/D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02018" y="4599432"/>
              <a:ext cx="2157984" cy="6007608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54F11E0-1335-4907-7138-BB31EC300313}"/>
              </a:ext>
            </a:extLst>
          </p:cNvPr>
          <p:cNvSpPr/>
          <p:nvPr/>
        </p:nvSpPr>
        <p:spPr>
          <a:xfrm>
            <a:off x="674348" y="8963606"/>
            <a:ext cx="2306596" cy="1751519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EB5470-E4B4-77DE-AA4E-DB80F8FA10DA}"/>
              </a:ext>
            </a:extLst>
          </p:cNvPr>
          <p:cNvSpPr/>
          <p:nvPr/>
        </p:nvSpPr>
        <p:spPr>
          <a:xfrm>
            <a:off x="878084" y="3365873"/>
            <a:ext cx="1462780" cy="1607269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DFC6716F-9AA0-FE99-DF48-DDCAAC1AA661}"/>
              </a:ext>
            </a:extLst>
          </p:cNvPr>
          <p:cNvSpPr/>
          <p:nvPr/>
        </p:nvSpPr>
        <p:spPr>
          <a:xfrm rot="2700000">
            <a:off x="5905546" y="1233043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5C74B047-750E-1DFC-1202-4B912255516C}"/>
              </a:ext>
            </a:extLst>
          </p:cNvPr>
          <p:cNvSpPr/>
          <p:nvPr/>
        </p:nvSpPr>
        <p:spPr>
          <a:xfrm rot="2700000">
            <a:off x="-107310" y="9991057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Text 0"/>
          <p:cNvSpPr/>
          <p:nvPr/>
        </p:nvSpPr>
        <p:spPr>
          <a:xfrm>
            <a:off x="640080" y="1027973"/>
            <a:ext cx="8035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04850" y="1192565"/>
            <a:ext cx="80352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kern="0" spc="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CLEANED DIRECTORY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114055"/>
            <a:ext cx="86296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Pristine, perfectly typed, sorted by hire date, and structurally ready for HR analytics.</a:t>
            </a:r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1D7202-7205-66E6-3070-118EFF5FF3EE}"/>
              </a:ext>
            </a:extLst>
          </p:cNvPr>
          <p:cNvGrpSpPr/>
          <p:nvPr/>
        </p:nvGrpSpPr>
        <p:grpSpPr>
          <a:xfrm>
            <a:off x="315468" y="3812786"/>
            <a:ext cx="9370314" cy="6117336"/>
            <a:chOff x="630936" y="3739896"/>
            <a:chExt cx="8739378" cy="4604469"/>
          </a:xfrm>
        </p:grpSpPr>
        <p:sp>
          <p:nvSpPr>
            <p:cNvPr id="6" name="Shape 3"/>
            <p:cNvSpPr/>
            <p:nvPr/>
          </p:nvSpPr>
          <p:spPr>
            <a:xfrm>
              <a:off x="630936" y="3739896"/>
              <a:ext cx="8739378" cy="4604469"/>
            </a:xfrm>
            <a:prstGeom prst="roundRect">
              <a:avLst>
                <a:gd name="adj" fmla="val 1787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7" name="Image 1" descr="/home/claude/project/images/DF1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14294" y="3911437"/>
              <a:ext cx="8357737" cy="4267943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58C6D5-22A6-A136-FBD9-766211BCA540}"/>
              </a:ext>
            </a:extLst>
          </p:cNvPr>
          <p:cNvGrpSpPr/>
          <p:nvPr/>
        </p:nvGrpSpPr>
        <p:grpSpPr>
          <a:xfrm>
            <a:off x="655320" y="10346901"/>
            <a:ext cx="8629650" cy="932688"/>
            <a:chOff x="685800" y="8792421"/>
            <a:chExt cx="8629650" cy="932688"/>
          </a:xfrm>
        </p:grpSpPr>
        <p:sp>
          <p:nvSpPr>
            <p:cNvPr id="8" name="Text 4"/>
            <p:cNvSpPr/>
            <p:nvPr/>
          </p:nvSpPr>
          <p:spPr>
            <a:xfrm>
              <a:off x="685800" y="8792421"/>
              <a:ext cx="269367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E0A96D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465</a:t>
              </a:r>
              <a:endParaRPr lang="en-US" sz="36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685800" y="9359349"/>
              <a:ext cx="269367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kern="0" spc="100" dirty="0">
                  <a:solidFill>
                    <a:srgbClr val="B8A99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UNIQUE RECORDS</a:t>
              </a:r>
              <a:endParaRPr lang="en-US" sz="14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3653790" y="8792421"/>
              <a:ext cx="269367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E0A96D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</a:t>
              </a:r>
              <a:endParaRPr lang="en-US" sz="36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3653790" y="9359349"/>
              <a:ext cx="269367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kern="0" spc="100" dirty="0">
                  <a:solidFill>
                    <a:srgbClr val="B8A99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MISSING VALUES</a:t>
              </a:r>
              <a:endParaRPr lang="en-US" sz="14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6621780" y="8792421"/>
              <a:ext cx="269367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E0A96D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1001+</a:t>
              </a:r>
              <a:endParaRPr lang="en-US" sz="36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6621780" y="9359349"/>
              <a:ext cx="269367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kern="0" spc="100" dirty="0">
                  <a:solidFill>
                    <a:srgbClr val="B8A99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AUTO IDS ASSIGNED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>
            <a:extLst>
              <a:ext uri="{FF2B5EF4-FFF2-40B4-BE49-F238E27FC236}">
                <a16:creationId xmlns:a16="http://schemas.microsoft.com/office/drawing/2014/main" id="{E3581178-3A59-65A1-55AE-EF462B0BFB34}"/>
              </a:ext>
            </a:extLst>
          </p:cNvPr>
          <p:cNvSpPr/>
          <p:nvPr/>
        </p:nvSpPr>
        <p:spPr>
          <a:xfrm rot="2700000">
            <a:off x="6849468" y="1123084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D1F4BEE4-304C-1F42-DC7A-5A0589EFD180}"/>
              </a:ext>
            </a:extLst>
          </p:cNvPr>
          <p:cNvSpPr/>
          <p:nvPr/>
        </p:nvSpPr>
        <p:spPr>
          <a:xfrm rot="2700000">
            <a:off x="-2411598" y="7849074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Text 0"/>
          <p:cNvSpPr/>
          <p:nvPr/>
        </p:nvSpPr>
        <p:spPr>
          <a:xfrm>
            <a:off x="685800" y="489798"/>
            <a:ext cx="8629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40664" y="686988"/>
            <a:ext cx="86296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kern="0" spc="5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TRANSACTION LOG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27554"/>
            <a:ext cx="862965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E-commerce data is notoriously messy. This dataset contained blank structural rows, combined contact details, and currency symbols trapped inside text fields.</a:t>
            </a:r>
            <a:endParaRPr 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361592-9AC1-3CF7-E904-EB3AA782128F}"/>
              </a:ext>
            </a:extLst>
          </p:cNvPr>
          <p:cNvGrpSpPr/>
          <p:nvPr/>
        </p:nvGrpSpPr>
        <p:grpSpPr>
          <a:xfrm>
            <a:off x="977265" y="3076362"/>
            <a:ext cx="8046720" cy="4265588"/>
            <a:chOff x="2222881" y="3968496"/>
            <a:chExt cx="5555488" cy="3172968"/>
          </a:xfrm>
        </p:grpSpPr>
        <p:sp>
          <p:nvSpPr>
            <p:cNvPr id="5" name="Shape 3"/>
            <p:cNvSpPr/>
            <p:nvPr/>
          </p:nvSpPr>
          <p:spPr>
            <a:xfrm>
              <a:off x="2222881" y="3968496"/>
              <a:ext cx="5555488" cy="3172968"/>
            </a:xfrm>
            <a:prstGeom prst="roundRect">
              <a:avLst>
                <a:gd name="adj" fmla="val 2594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6" name="Image 0" descr="/home/claude/project/images/CQ2.png"/>
            <p:cNvPicPr>
              <a:picLocks noChangeAspect="1"/>
            </p:cNvPicPr>
            <p:nvPr/>
          </p:nvPicPr>
          <p:blipFill>
            <a:blip r:embed="rId3"/>
            <a:srcRect t="6529" b="11960"/>
            <a:stretch>
              <a:fillRect/>
            </a:stretch>
          </p:blipFill>
          <p:spPr>
            <a:xfrm>
              <a:off x="2408366" y="4141687"/>
              <a:ext cx="5184518" cy="2826585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685800" y="7396002"/>
            <a:ext cx="86296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D49F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Transformation criteria defined upfront</a:t>
            </a:r>
            <a:endParaRPr lang="en-US" b="1" dirty="0">
              <a:solidFill>
                <a:srgbClr val="D49F67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3C104CA-90BF-B480-96AF-28FE33357A68}"/>
              </a:ext>
            </a:extLst>
          </p:cNvPr>
          <p:cNvGrpSpPr/>
          <p:nvPr/>
        </p:nvGrpSpPr>
        <p:grpSpPr>
          <a:xfrm>
            <a:off x="630936" y="7920902"/>
            <a:ext cx="8970264" cy="4250860"/>
            <a:chOff x="630936" y="7912952"/>
            <a:chExt cx="8739378" cy="3948926"/>
          </a:xfrm>
        </p:grpSpPr>
        <p:sp>
          <p:nvSpPr>
            <p:cNvPr id="8" name="Shape 5"/>
            <p:cNvSpPr/>
            <p:nvPr/>
          </p:nvSpPr>
          <p:spPr>
            <a:xfrm>
              <a:off x="630936" y="7912952"/>
              <a:ext cx="8739378" cy="3948926"/>
            </a:xfrm>
            <a:prstGeom prst="roundRect">
              <a:avLst>
                <a:gd name="adj" fmla="val 1591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9" name="Image 1" descr="/home/claude/project/images/C1.png"/>
            <p:cNvPicPr>
              <a:picLocks noChangeAspect="1"/>
            </p:cNvPicPr>
            <p:nvPr/>
          </p:nvPicPr>
          <p:blipFill>
            <a:blip r:embed="rId4"/>
            <a:srcRect b="34225"/>
            <a:stretch>
              <a:fillRect/>
            </a:stretch>
          </p:blipFill>
          <p:spPr>
            <a:xfrm>
              <a:off x="876681" y="8073306"/>
              <a:ext cx="8247888" cy="3585294"/>
            </a:xfrm>
            <a:prstGeom prst="rect">
              <a:avLst/>
            </a:prstGeom>
          </p:spPr>
        </p:pic>
      </p:grpSp>
      <p:sp>
        <p:nvSpPr>
          <p:cNvPr id="10" name="Text 6"/>
          <p:cNvSpPr/>
          <p:nvPr/>
        </p:nvSpPr>
        <p:spPr>
          <a:xfrm>
            <a:off x="786384" y="12217988"/>
            <a:ext cx="86296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D49F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sales log nested values, null layers, blank rows</a:t>
            </a:r>
            <a:endParaRPr lang="en-US" b="1" dirty="0">
              <a:solidFill>
                <a:srgbClr val="D49F6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">
            <a:extLst>
              <a:ext uri="{FF2B5EF4-FFF2-40B4-BE49-F238E27FC236}">
                <a16:creationId xmlns:a16="http://schemas.microsoft.com/office/drawing/2014/main" id="{8C1A09A7-FCAB-7AF8-0F4F-F717EC9A30E0}"/>
              </a:ext>
            </a:extLst>
          </p:cNvPr>
          <p:cNvSpPr/>
          <p:nvPr/>
        </p:nvSpPr>
        <p:spPr>
          <a:xfrm rot="2700000">
            <a:off x="8249456" y="76674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36065D82-C56F-54D1-72FD-8479D14F570E}"/>
              </a:ext>
            </a:extLst>
          </p:cNvPr>
          <p:cNvSpPr/>
          <p:nvPr/>
        </p:nvSpPr>
        <p:spPr>
          <a:xfrm rot="2700000">
            <a:off x="4795053" y="924955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9812BF8F-E495-605F-12E5-5463CBFF4CA4}"/>
              </a:ext>
            </a:extLst>
          </p:cNvPr>
          <p:cNvSpPr/>
          <p:nvPr/>
        </p:nvSpPr>
        <p:spPr>
          <a:xfrm rot="2700000">
            <a:off x="-2797197" y="5489923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Text 0"/>
          <p:cNvSpPr/>
          <p:nvPr/>
        </p:nvSpPr>
        <p:spPr>
          <a:xfrm>
            <a:off x="685799" y="521208"/>
            <a:ext cx="8629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E0A96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681228"/>
            <a:ext cx="86296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FIXING THE TYPE CORRUPTIONS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799" y="1600200"/>
            <a:ext cx="862965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Removed irrelevant top rows and leftover structural blanks.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Stripped currency symbols to convert prices into true numbers.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A0402E-FF2B-BEB0-2CCA-3F550C4C0FA4}"/>
              </a:ext>
            </a:extLst>
          </p:cNvPr>
          <p:cNvGrpSpPr/>
          <p:nvPr/>
        </p:nvGrpSpPr>
        <p:grpSpPr>
          <a:xfrm>
            <a:off x="342899" y="2855500"/>
            <a:ext cx="9315450" cy="4477988"/>
            <a:chOff x="685800" y="4343400"/>
            <a:chExt cx="8629650" cy="3640455"/>
          </a:xfrm>
        </p:grpSpPr>
        <p:sp>
          <p:nvSpPr>
            <p:cNvPr id="5" name="Shape 3"/>
            <p:cNvSpPr/>
            <p:nvPr/>
          </p:nvSpPr>
          <p:spPr>
            <a:xfrm>
              <a:off x="685800" y="4343400"/>
              <a:ext cx="8629650" cy="3640455"/>
            </a:xfrm>
            <a:prstGeom prst="roundRect">
              <a:avLst>
                <a:gd name="adj" fmla="val 2512"/>
              </a:avLst>
            </a:prstGeom>
            <a:solidFill>
              <a:srgbClr val="382C29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Image 0" descr="/home/claude/project/images/C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968" y="4567999"/>
              <a:ext cx="8227313" cy="3191255"/>
            </a:xfrm>
            <a:prstGeom prst="rect">
              <a:avLst/>
            </a:prstGeom>
          </p:spPr>
        </p:pic>
      </p:grpSp>
      <p:sp>
        <p:nvSpPr>
          <p:cNvPr id="10" name="Text 7"/>
          <p:cNvSpPr/>
          <p:nvPr/>
        </p:nvSpPr>
        <p:spPr>
          <a:xfrm>
            <a:off x="3185158" y="7479792"/>
            <a:ext cx="82273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D49F6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Removing irrelevant top rows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D49F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FFD91B-4F74-1547-5C7D-5B32161E3EF9}"/>
              </a:ext>
            </a:extLst>
          </p:cNvPr>
          <p:cNvGrpSpPr/>
          <p:nvPr/>
        </p:nvGrpSpPr>
        <p:grpSpPr>
          <a:xfrm>
            <a:off x="342899" y="7936991"/>
            <a:ext cx="9315450" cy="4309111"/>
            <a:chOff x="685800" y="8349615"/>
            <a:chExt cx="8629650" cy="3640455"/>
          </a:xfrm>
        </p:grpSpPr>
        <p:sp>
          <p:nvSpPr>
            <p:cNvPr id="11" name="Shape 8"/>
            <p:cNvSpPr/>
            <p:nvPr/>
          </p:nvSpPr>
          <p:spPr>
            <a:xfrm>
              <a:off x="685800" y="8349615"/>
              <a:ext cx="8629650" cy="3640455"/>
            </a:xfrm>
            <a:prstGeom prst="roundRect">
              <a:avLst>
                <a:gd name="adj" fmla="val 2512"/>
              </a:avLst>
            </a:prstGeom>
            <a:solidFill>
              <a:srgbClr val="382C29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Image 1" descr="/home/claude/project/images/C2_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400" y="8588788"/>
              <a:ext cx="8138160" cy="3200113"/>
            </a:xfrm>
            <a:prstGeom prst="rect">
              <a:avLst/>
            </a:prstGeom>
          </p:spPr>
        </p:pic>
      </p:grpSp>
      <p:sp>
        <p:nvSpPr>
          <p:cNvPr id="16" name="Text 12"/>
          <p:cNvSpPr/>
          <p:nvPr/>
        </p:nvSpPr>
        <p:spPr>
          <a:xfrm>
            <a:off x="2862072" y="12313947"/>
            <a:ext cx="82273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D49F6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Replacing “$” to unlock numeric prices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D49F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0E6BDE-C309-0AC1-BA69-17B81747CADB}"/>
              </a:ext>
            </a:extLst>
          </p:cNvPr>
          <p:cNvSpPr/>
          <p:nvPr/>
        </p:nvSpPr>
        <p:spPr>
          <a:xfrm>
            <a:off x="2862072" y="4788395"/>
            <a:ext cx="3026664" cy="1467652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A096F6-110A-9871-7556-943135AD961A}"/>
              </a:ext>
            </a:extLst>
          </p:cNvPr>
          <p:cNvSpPr/>
          <p:nvPr/>
        </p:nvSpPr>
        <p:spPr>
          <a:xfrm>
            <a:off x="1069848" y="9726979"/>
            <a:ext cx="3026664" cy="1467652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">
            <a:extLst>
              <a:ext uri="{FF2B5EF4-FFF2-40B4-BE49-F238E27FC236}">
                <a16:creationId xmlns:a16="http://schemas.microsoft.com/office/drawing/2014/main" id="{3D61563A-1121-9976-9135-53C86607D8CE}"/>
              </a:ext>
            </a:extLst>
          </p:cNvPr>
          <p:cNvSpPr/>
          <p:nvPr/>
        </p:nvSpPr>
        <p:spPr>
          <a:xfrm rot="2700000">
            <a:off x="6714115" y="11189665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CBD4BCD1-33DD-8C1B-D6F7-FF16D74CDEFB}"/>
              </a:ext>
            </a:extLst>
          </p:cNvPr>
          <p:cNvSpPr/>
          <p:nvPr/>
        </p:nvSpPr>
        <p:spPr>
          <a:xfrm rot="2700000">
            <a:off x="6421506" y="1356751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Text 0"/>
          <p:cNvSpPr/>
          <p:nvPr/>
        </p:nvSpPr>
        <p:spPr>
          <a:xfrm>
            <a:off x="685800" y="576072"/>
            <a:ext cx="8629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E0A96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704088"/>
            <a:ext cx="86296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UNTANGLING CUSTOMER DATA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686681"/>
            <a:ext cx="862965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Parsed nested contact fields into isolated email and phone streams.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 full customer names into First and Last Name columns.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BDF025-F0F4-D9C7-5A9F-51D37DEF9D0C}"/>
              </a:ext>
            </a:extLst>
          </p:cNvPr>
          <p:cNvGrpSpPr/>
          <p:nvPr/>
        </p:nvGrpSpPr>
        <p:grpSpPr>
          <a:xfrm>
            <a:off x="205091" y="3106807"/>
            <a:ext cx="6223634" cy="4035259"/>
            <a:chOff x="685800" y="4343400"/>
            <a:chExt cx="5795010" cy="3640455"/>
          </a:xfrm>
        </p:grpSpPr>
        <p:sp>
          <p:nvSpPr>
            <p:cNvPr id="5" name="Shape 3"/>
            <p:cNvSpPr/>
            <p:nvPr/>
          </p:nvSpPr>
          <p:spPr>
            <a:xfrm>
              <a:off x="685800" y="4343400"/>
              <a:ext cx="5795010" cy="3640455"/>
            </a:xfrm>
            <a:prstGeom prst="roundRect">
              <a:avLst>
                <a:gd name="adj" fmla="val 2512"/>
              </a:avLst>
            </a:prstGeom>
            <a:solidFill>
              <a:srgbClr val="382C29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Image 0" descr="/home/claude/project/images/C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688" y="4599432"/>
              <a:ext cx="5346954" cy="3145299"/>
            </a:xfrm>
            <a:prstGeom prst="rect">
              <a:avLst/>
            </a:prstGeom>
          </p:spPr>
        </p:pic>
      </p:grpSp>
      <p:sp>
        <p:nvSpPr>
          <p:cNvPr id="10" name="Text 7"/>
          <p:cNvSpPr/>
          <p:nvPr/>
        </p:nvSpPr>
        <p:spPr>
          <a:xfrm>
            <a:off x="1514397" y="7301290"/>
            <a:ext cx="53926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D49F6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Splitting contact info by delimiter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D49F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2012D7-CE2F-7FE8-63BA-A9F50EAD6BD4}"/>
              </a:ext>
            </a:extLst>
          </p:cNvPr>
          <p:cNvGrpSpPr/>
          <p:nvPr/>
        </p:nvGrpSpPr>
        <p:grpSpPr>
          <a:xfrm>
            <a:off x="229642" y="7771410"/>
            <a:ext cx="6223634" cy="3987237"/>
            <a:chOff x="685800" y="8349615"/>
            <a:chExt cx="5795010" cy="3640455"/>
          </a:xfrm>
        </p:grpSpPr>
        <p:sp>
          <p:nvSpPr>
            <p:cNvPr id="11" name="Shape 8"/>
            <p:cNvSpPr/>
            <p:nvPr/>
          </p:nvSpPr>
          <p:spPr>
            <a:xfrm>
              <a:off x="685800" y="8349615"/>
              <a:ext cx="5795010" cy="3640455"/>
            </a:xfrm>
            <a:prstGeom prst="roundRect">
              <a:avLst>
                <a:gd name="adj" fmla="val 2512"/>
              </a:avLst>
            </a:prstGeom>
            <a:solidFill>
              <a:srgbClr val="382C29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Image 1" descr="/home/claude/project/images/C5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6968" y="8623245"/>
              <a:ext cx="5392674" cy="3209091"/>
            </a:xfrm>
            <a:prstGeom prst="rect">
              <a:avLst/>
            </a:prstGeom>
          </p:spPr>
        </p:pic>
      </p:grpSp>
      <p:sp>
        <p:nvSpPr>
          <p:cNvPr id="16" name="Text 12"/>
          <p:cNvSpPr/>
          <p:nvPr/>
        </p:nvSpPr>
        <p:spPr>
          <a:xfrm>
            <a:off x="1397889" y="11838640"/>
            <a:ext cx="53926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D49F6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Extracting first names from full names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D49F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05B382-523F-27E3-0946-76B518244410}"/>
              </a:ext>
            </a:extLst>
          </p:cNvPr>
          <p:cNvGrpSpPr/>
          <p:nvPr/>
        </p:nvGrpSpPr>
        <p:grpSpPr>
          <a:xfrm>
            <a:off x="6529911" y="4343400"/>
            <a:ext cx="3214163" cy="6135624"/>
            <a:chOff x="6846570" y="4343400"/>
            <a:chExt cx="2468880" cy="5532120"/>
          </a:xfrm>
        </p:grpSpPr>
        <p:sp>
          <p:nvSpPr>
            <p:cNvPr id="17" name="Shape 13"/>
            <p:cNvSpPr/>
            <p:nvPr/>
          </p:nvSpPr>
          <p:spPr>
            <a:xfrm>
              <a:off x="6846570" y="4343400"/>
              <a:ext cx="2468880" cy="5532120"/>
            </a:xfrm>
            <a:prstGeom prst="roundRect">
              <a:avLst>
                <a:gd name="adj" fmla="val 4444"/>
              </a:avLst>
            </a:prstGeom>
            <a:solidFill>
              <a:srgbClr val="382C29"/>
            </a:solidFill>
            <a:ln/>
            <a:effectLst>
              <a:outerShdw blurRad="152400" dist="508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001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" name="Image 3" descr="/home/claude/project/images/C6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2018" y="4590288"/>
              <a:ext cx="2157984" cy="5084064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750C64B-8E4E-C4B8-8888-2DDB8B6FD87F}"/>
              </a:ext>
            </a:extLst>
          </p:cNvPr>
          <p:cNvSpPr/>
          <p:nvPr/>
        </p:nvSpPr>
        <p:spPr>
          <a:xfrm>
            <a:off x="2144743" y="3540855"/>
            <a:ext cx="2683289" cy="1627431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9C9146-2B2F-E821-226F-9AC53E110F36}"/>
              </a:ext>
            </a:extLst>
          </p:cNvPr>
          <p:cNvSpPr/>
          <p:nvPr/>
        </p:nvSpPr>
        <p:spPr>
          <a:xfrm>
            <a:off x="470241" y="8131403"/>
            <a:ext cx="5491647" cy="840400"/>
          </a:xfrm>
          <a:prstGeom prst="rect">
            <a:avLst/>
          </a:prstGeom>
          <a:noFill/>
          <a:ln w="38100">
            <a:solidFill>
              <a:srgbClr val="1A11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">
            <a:extLst>
              <a:ext uri="{FF2B5EF4-FFF2-40B4-BE49-F238E27FC236}">
                <a16:creationId xmlns:a16="http://schemas.microsoft.com/office/drawing/2014/main" id="{86E49B2C-5B1F-59FC-A260-0E11BA6096D9}"/>
              </a:ext>
            </a:extLst>
          </p:cNvPr>
          <p:cNvSpPr/>
          <p:nvPr/>
        </p:nvSpPr>
        <p:spPr>
          <a:xfrm rot="2700000">
            <a:off x="5959249" y="890491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7812C471-9526-05C2-972B-A457353705DC}"/>
              </a:ext>
            </a:extLst>
          </p:cNvPr>
          <p:cNvSpPr/>
          <p:nvPr/>
        </p:nvSpPr>
        <p:spPr>
          <a:xfrm rot="2700000">
            <a:off x="-2411598" y="7849074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Text 0"/>
          <p:cNvSpPr/>
          <p:nvPr/>
        </p:nvSpPr>
        <p:spPr>
          <a:xfrm>
            <a:off x="685800" y="813816"/>
            <a:ext cx="8035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042416"/>
            <a:ext cx="80352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kern="0" spc="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FINISHED SALES LEDGER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" y="1975104"/>
            <a:ext cx="86296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 pricing, isolated contact fields, and a fully sorted product catalogue, ready for revenue analysis.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62CA01-DE80-0DE3-6437-26EB66FE4241}"/>
              </a:ext>
            </a:extLst>
          </p:cNvPr>
          <p:cNvGrpSpPr/>
          <p:nvPr/>
        </p:nvGrpSpPr>
        <p:grpSpPr>
          <a:xfrm>
            <a:off x="557302" y="3776472"/>
            <a:ext cx="8886646" cy="6220206"/>
            <a:chOff x="630936" y="3785616"/>
            <a:chExt cx="6361938" cy="3567151"/>
          </a:xfrm>
        </p:grpSpPr>
        <p:sp>
          <p:nvSpPr>
            <p:cNvPr id="6" name="Shape 3"/>
            <p:cNvSpPr/>
            <p:nvPr/>
          </p:nvSpPr>
          <p:spPr>
            <a:xfrm>
              <a:off x="630936" y="3785616"/>
              <a:ext cx="6361938" cy="3567151"/>
            </a:xfrm>
            <a:prstGeom prst="roundRect">
              <a:avLst>
                <a:gd name="adj" fmla="val 2307"/>
              </a:avLst>
            </a:prstGeom>
            <a:solidFill>
              <a:srgbClr val="241A18"/>
            </a:solidFill>
            <a:ln/>
            <a:effectLst>
              <a:outerShdw blurRad="152400" dist="508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7" name="Image 1" descr="/home/claude/project/images/CF2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68680" y="3977641"/>
              <a:ext cx="5897880" cy="3136392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DF86DD-441D-2DBC-3707-131B25272D11}"/>
              </a:ext>
            </a:extLst>
          </p:cNvPr>
          <p:cNvGrpSpPr/>
          <p:nvPr/>
        </p:nvGrpSpPr>
        <p:grpSpPr>
          <a:xfrm>
            <a:off x="685800" y="10581894"/>
            <a:ext cx="8629650" cy="932688"/>
            <a:chOff x="685800" y="7755103"/>
            <a:chExt cx="8629650" cy="932688"/>
          </a:xfrm>
        </p:grpSpPr>
        <p:sp>
          <p:nvSpPr>
            <p:cNvPr id="11" name="Text 6"/>
            <p:cNvSpPr/>
            <p:nvPr/>
          </p:nvSpPr>
          <p:spPr>
            <a:xfrm>
              <a:off x="685800" y="7755103"/>
              <a:ext cx="269367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E0A96D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699</a:t>
              </a:r>
              <a:endParaRPr lang="en-US" sz="40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685800" y="8322031"/>
              <a:ext cx="269367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kern="0" spc="100" dirty="0">
                  <a:solidFill>
                    <a:srgbClr val="B8A99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CLEAN RECORDS</a:t>
              </a:r>
              <a:endParaRPr lang="en-US" sz="16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3653790" y="7755103"/>
              <a:ext cx="269367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E0A96D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$0</a:t>
              </a:r>
              <a:endParaRPr lang="en-US" sz="40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3653790" y="8322031"/>
              <a:ext cx="269367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kern="0" spc="100" dirty="0">
                  <a:solidFill>
                    <a:srgbClr val="B8A99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TEXT-LOCKED FREE PRICES</a:t>
              </a:r>
              <a:endParaRPr lang="en-US" sz="160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6621780" y="7755103"/>
              <a:ext cx="269367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E0A96D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400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6621780" y="8322031"/>
              <a:ext cx="269367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kern="0" spc="100" dirty="0">
                  <a:solidFill>
                    <a:srgbClr val="B8A99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CONTACT FIELDS SPLIT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id="{3F966AFE-A6AD-1D72-1D06-BE26F969CBE6}"/>
              </a:ext>
            </a:extLst>
          </p:cNvPr>
          <p:cNvSpPr/>
          <p:nvPr/>
        </p:nvSpPr>
        <p:spPr>
          <a:xfrm rot="2700000">
            <a:off x="7477866" y="40447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59DD4FC8-2078-56F2-9566-65C1A515C17D}"/>
              </a:ext>
            </a:extLst>
          </p:cNvPr>
          <p:cNvSpPr/>
          <p:nvPr/>
        </p:nvSpPr>
        <p:spPr>
          <a:xfrm rot="2700000">
            <a:off x="-2411598" y="7849074"/>
            <a:ext cx="4617695" cy="4601530"/>
          </a:xfrm>
          <a:prstGeom prst="rect">
            <a:avLst/>
          </a:prstGeom>
          <a:ln w="57150">
            <a:solidFill>
              <a:srgbClr val="34272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" name="Text 0"/>
          <p:cNvSpPr/>
          <p:nvPr/>
        </p:nvSpPr>
        <p:spPr>
          <a:xfrm>
            <a:off x="685800" y="868680"/>
            <a:ext cx="8629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207008"/>
            <a:ext cx="86296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kern="0" spc="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UNSEEN HERO OF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862965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Bad data leads to bad business decisions.</a:t>
            </a:r>
            <a:endParaRPr lang="en-US" sz="2400" dirty="0"/>
          </a:p>
          <a:p>
            <a:pPr marL="228600" indent="-228600" algn="l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building stunning dashboards, an analyst must ensure the data is accurate, structured, and reliable.</a:t>
            </a:r>
            <a:endParaRPr lang="en-US" sz="2400" dirty="0"/>
          </a:p>
          <a:p>
            <a:pPr marL="228600" indent="-228600" algn="l">
              <a:lnSpc>
                <a:spcPct val="128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Here is how I tackled two real-world scenarios to make raw data decision-ready.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5943600"/>
            <a:ext cx="4154805" cy="4206240"/>
          </a:xfrm>
          <a:prstGeom prst="roundRect">
            <a:avLst>
              <a:gd name="adj" fmla="val 2641"/>
            </a:avLst>
          </a:prstGeom>
          <a:solidFill>
            <a:srgbClr val="241A18"/>
          </a:solidFill>
          <a:ln/>
          <a:effectLst>
            <a:outerShdw blurRad="152400" dist="508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5160645" y="5943600"/>
            <a:ext cx="4154805" cy="4206240"/>
          </a:xfrm>
          <a:prstGeom prst="roundRect">
            <a:avLst>
              <a:gd name="adj" fmla="val 2641"/>
            </a:avLst>
          </a:prstGeom>
          <a:solidFill>
            <a:srgbClr val="241A18"/>
          </a:solidFill>
          <a:ln/>
          <a:effectLst>
            <a:outerShdw blurRad="152400" dist="508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pic>
        <p:nvPicPr>
          <p:cNvPr id="7" name="Image 0" descr="/home/claude/project/icons/puzzle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080000">
            <a:off x="2077403" y="6446520"/>
            <a:ext cx="621792" cy="621792"/>
          </a:xfrm>
          <a:prstGeom prst="rect">
            <a:avLst/>
          </a:prstGeom>
        </p:spPr>
      </p:pic>
      <p:pic>
        <p:nvPicPr>
          <p:cNvPr id="8" name="Image 1" descr="/home/claude/project/icons/puzzle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20000">
            <a:off x="3083243" y="6720840"/>
            <a:ext cx="621792" cy="621792"/>
          </a:xfrm>
          <a:prstGeom prst="rect">
            <a:avLst/>
          </a:prstGeom>
        </p:spPr>
      </p:pic>
      <p:pic>
        <p:nvPicPr>
          <p:cNvPr id="9" name="Image 2" descr="/home/claude/project/icons/puzzle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2443163" y="7360920"/>
            <a:ext cx="621792" cy="621792"/>
          </a:xfrm>
          <a:prstGeom prst="rect">
            <a:avLst/>
          </a:prstGeom>
        </p:spPr>
      </p:pic>
      <p:pic>
        <p:nvPicPr>
          <p:cNvPr id="10" name="Image 3" descr="/home/claude/project/icons/puzzle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720000">
            <a:off x="3266123" y="7680960"/>
            <a:ext cx="621792" cy="6217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8275320"/>
            <a:ext cx="41548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B8A9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DATA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960120" y="8686800"/>
            <a:ext cx="360616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A9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Inconsistent, incomplete, unstructured</a:t>
            </a:r>
            <a:endParaRPr lang="en-US" sz="2000" b="1" dirty="0"/>
          </a:p>
        </p:txBody>
      </p:sp>
      <p:pic>
        <p:nvPicPr>
          <p:cNvPr id="13" name="Image 4" descr="/home/claude/project/icons/puzzle_rose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128" y="6446520"/>
            <a:ext cx="1005840" cy="1005840"/>
          </a:xfrm>
          <a:prstGeom prst="rect">
            <a:avLst/>
          </a:prstGeom>
        </p:spPr>
      </p:pic>
      <p:pic>
        <p:nvPicPr>
          <p:cNvPr id="14" name="Image 5" descr="/home/claude/project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080" y="7178040"/>
            <a:ext cx="411480" cy="4114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160645" y="8275320"/>
            <a:ext cx="41548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E0A9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DATA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5434965" y="8686800"/>
            <a:ext cx="360616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A7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Accurate, structured, decision-ready</a:t>
            </a:r>
            <a:endParaRPr lang="en-US" sz="2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416</Words>
  <Application>Microsoft Office PowerPoint</Application>
  <PresentationFormat>Custom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Chaos to Clarity</dc:title>
  <dc:subject>PptxGenJS Presentation</dc:subject>
  <dc:creator>Data Analyst Portfolio</dc:creator>
  <cp:lastModifiedBy>Dipan Nandi</cp:lastModifiedBy>
  <cp:revision>2</cp:revision>
  <dcterms:created xsi:type="dcterms:W3CDTF">2026-07-05T07:59:07Z</dcterms:created>
  <dcterms:modified xsi:type="dcterms:W3CDTF">2026-07-04T09:35:23Z</dcterms:modified>
</cp:coreProperties>
</file>